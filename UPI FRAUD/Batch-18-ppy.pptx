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sldIdLst>
    <p:sldId id="256" r:id="rId2"/>
    <p:sldId id="317" r:id="rId3"/>
    <p:sldId id="279" r:id="rId4"/>
    <p:sldId id="282" r:id="rId5"/>
    <p:sldId id="336" r:id="rId6"/>
    <p:sldId id="273" r:id="rId7"/>
    <p:sldId id="324" r:id="rId8"/>
    <p:sldId id="313" r:id="rId9"/>
    <p:sldId id="311" r:id="rId10"/>
    <p:sldId id="305" r:id="rId11"/>
    <p:sldId id="318" r:id="rId12"/>
    <p:sldId id="291" r:id="rId13"/>
    <p:sldId id="290" r:id="rId14"/>
    <p:sldId id="337" r:id="rId15"/>
    <p:sldId id="338" r:id="rId16"/>
    <p:sldId id="286" r:id="rId17"/>
    <p:sldId id="297" r:id="rId18"/>
    <p:sldId id="333" r:id="rId19"/>
    <p:sldId id="334" r:id="rId20"/>
    <p:sldId id="339" r:id="rId21"/>
    <p:sldId id="340" r:id="rId22"/>
    <p:sldId id="341" r:id="rId23"/>
    <p:sldId id="344" r:id="rId24"/>
    <p:sldId id="346" r:id="rId25"/>
    <p:sldId id="353" r:id="rId26"/>
    <p:sldId id="354" r:id="rId27"/>
    <p:sldId id="355" r:id="rId28"/>
    <p:sldId id="352" r:id="rId29"/>
    <p:sldId id="287" r:id="rId30"/>
    <p:sldId id="358" r:id="rId31"/>
    <p:sldId id="270" r:id="rId3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3">
          <p15:clr>
            <a:srgbClr val="A4A3A4"/>
          </p15:clr>
        </p15:guide>
        <p15:guide id="2" pos="28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C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3447" autoAdjust="0"/>
  </p:normalViewPr>
  <p:slideViewPr>
    <p:cSldViewPr>
      <p:cViewPr varScale="1">
        <p:scale>
          <a:sx n="91" d="100"/>
          <a:sy n="91" d="100"/>
        </p:scale>
        <p:origin x="600" y="56"/>
      </p:cViewPr>
      <p:guideLst>
        <p:guide orient="horz" pos="1623"/>
        <p:guide pos="283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B89670-D41F-4097-8FD9-CE442ED0FA1F}" type="datetimeFigureOut">
              <a:rPr lang="en-IN" smtClean="0"/>
              <a:pPr/>
              <a:t>26-12-2024</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E56148-D431-4951-89CB-D4EA159A8CAB}" type="slidenum">
              <a:rPr lang="en-IN" smtClean="0"/>
              <a:pPr/>
              <a:t>‹#›</a:t>
            </a:fld>
            <a:endParaRPr lang="en-IN" dirty="0"/>
          </a:p>
        </p:txBody>
      </p:sp>
    </p:spTree>
    <p:extLst>
      <p:ext uri="{BB962C8B-B14F-4D97-AF65-F5344CB8AC3E}">
        <p14:creationId xmlns:p14="http://schemas.microsoft.com/office/powerpoint/2010/main" val="4177367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pPr/>
              <a:t>2</a:t>
            </a:fld>
            <a:endParaRPr lang="en-IN" dirty="0"/>
          </a:p>
        </p:txBody>
      </p:sp>
    </p:spTree>
    <p:extLst>
      <p:ext uri="{BB962C8B-B14F-4D97-AF65-F5344CB8AC3E}">
        <p14:creationId xmlns:p14="http://schemas.microsoft.com/office/powerpoint/2010/main" val="2814902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system is based on three major stages: colour segmentation, recognition, and classification.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a)Four colour segmentation algorithms are developed and tested.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They are shadow and highlight invariant, a dynamic threshold, a modification of de la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Escalera’s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algorithm and a Fuzzy colour segmentation algorithm.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All algorithms are tested using hundreds of images and the shadow-highlight invariant algorithm is eventually chosen as the best performer. This is because it is immune to shadows and highlights. It is also robust as it was tested in different lighting conditions, weather conditions, and times of the day.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Approximately 97% successful segmentation rate was achieved using this algorithm.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b)</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Recognition of traffic signs is carried out using a fuzzy shape recogniser.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Based on four shape measures - the rectangularity, triangularity, ellipticity, and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octagonality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fuzzy rules were developed to determine the shape of the sign. Among these shape measures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octagonality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has been introduced in this research.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final decision of the recogniser is based on the combination of both the colour and shape of the sign.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recogniser was tested in a variety of testing conditions giving an overall performance of approximately 88%.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c)</a:t>
            </a:r>
            <a:r>
              <a:rPr lang="en-IN" sz="1800" dirty="0">
                <a:effectLst/>
                <a:latin typeface="Times New Roman" panose="02020603050405020304" pitchFamily="18" charset="0"/>
                <a:ea typeface="Calibri" panose="020F0502020204030204" pitchFamily="34" charset="0"/>
              </a:rPr>
              <a:t> Classification was undertaken using a Support Vector Machine (SVM) classifier. The classification is carried out in two stages: rim’s shape classification followed by the classification of interior of the sign. The classifier was trained and tested using binary images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55E56148-D431-4951-89CB-D4EA159A8CAB}" type="slidenum">
              <a:rPr lang="en-IN" smtClean="0"/>
              <a:pPr/>
              <a:t>6</a:t>
            </a:fld>
            <a:endParaRPr lang="en-IN" dirty="0"/>
          </a:p>
        </p:txBody>
      </p:sp>
    </p:spTree>
    <p:extLst>
      <p:ext uri="{BB962C8B-B14F-4D97-AF65-F5344CB8AC3E}">
        <p14:creationId xmlns:p14="http://schemas.microsoft.com/office/powerpoint/2010/main" val="531809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system is based on three major stages: colour segmentation, recognition, and classification.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a)Four colour segmentation algorithms are developed and tested.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They are shadow and highlight invariant, a dynamic threshold, a modification of de la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Escalera’s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algorithm and a Fuzzy colour segmentation algorithm.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All algorithms are tested using hundreds of images and the shadow-highlight invariant algorithm is eventually chosen as the best performer. This is because it is immune to shadows and highlights. It is also robust as it was tested in different lighting conditions, weather conditions, and times of the day.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Approximately 97% successful segmentation rate was achieved using this algorithm.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b)</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Recognition of traffic signs is carried out using a fuzzy shape recogniser.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Based on four shape measures - the rectangularity, triangularity, ellipticity, and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octagonality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fuzzy rules were developed to determine the shape of the sign. Among these shape measures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octagonality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has been introduced in this research.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final decision of the recogniser is based on the combination of both the colour and shape of the sign.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recogniser was tested in a variety of testing conditions giving an overall performance of approximately 88%.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c)</a:t>
            </a:r>
            <a:r>
              <a:rPr lang="en-IN" sz="1800" dirty="0">
                <a:effectLst/>
                <a:latin typeface="Times New Roman" panose="02020603050405020304" pitchFamily="18" charset="0"/>
                <a:ea typeface="Calibri" panose="020F0502020204030204" pitchFamily="34" charset="0"/>
              </a:rPr>
              <a:t> Classification was undertaken using a Support Vector Machine (SVM) classifier. The classification is carried out in two stages: rim’s shape classification followed by the classification of interior of the sign. The classifier was trained and tested using binary images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55E56148-D431-4951-89CB-D4EA159A8CAB}" type="slidenum">
              <a:rPr lang="en-IN" smtClean="0"/>
              <a:pPr/>
              <a:t>7</a:t>
            </a:fld>
            <a:endParaRPr lang="en-IN" dirty="0"/>
          </a:p>
        </p:txBody>
      </p:sp>
    </p:spTree>
    <p:extLst>
      <p:ext uri="{BB962C8B-B14F-4D97-AF65-F5344CB8AC3E}">
        <p14:creationId xmlns:p14="http://schemas.microsoft.com/office/powerpoint/2010/main" val="4288973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50000"/>
              </a:lnSpc>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5E56148-D431-4951-89CB-D4EA159A8CAB}" type="slidenum">
              <a:rPr lang="en-IN" smtClean="0"/>
              <a:pPr/>
              <a:t>10</a:t>
            </a:fld>
            <a:endParaRPr lang="en-IN" dirty="0"/>
          </a:p>
        </p:txBody>
      </p:sp>
    </p:spTree>
    <p:extLst>
      <p:ext uri="{BB962C8B-B14F-4D97-AF65-F5344CB8AC3E}">
        <p14:creationId xmlns:p14="http://schemas.microsoft.com/office/powerpoint/2010/main" val="3360435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50000"/>
              </a:lnSpc>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5E56148-D431-4951-89CB-D4EA159A8CAB}" type="slidenum">
              <a:rPr lang="en-IN" smtClean="0"/>
              <a:pPr/>
              <a:t>11</a:t>
            </a:fld>
            <a:endParaRPr lang="en-IN" dirty="0"/>
          </a:p>
        </p:txBody>
      </p:sp>
    </p:spTree>
    <p:extLst>
      <p:ext uri="{BB962C8B-B14F-4D97-AF65-F5344CB8AC3E}">
        <p14:creationId xmlns:p14="http://schemas.microsoft.com/office/powerpoint/2010/main" val="3360435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C5E6E2F-D0FF-4C16-B67F-2CF2AE82FF0A}" type="datetime1">
              <a:rPr lang="en-IN" smtClean="0"/>
              <a:pPr/>
              <a:t>26-12-2024</a:t>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p>
        </p:txBody>
      </p:sp>
      <p:sp>
        <p:nvSpPr>
          <p:cNvPr id="6" name="Slide Number Placeholder 5"/>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6C3832-92D3-4381-AE6A-82310A8AB1FC}" type="datetime1">
              <a:rPr lang="en-IN" smtClean="0"/>
              <a:pPr/>
              <a:t>26-12-2024</a:t>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p>
        </p:txBody>
      </p:sp>
      <p:sp>
        <p:nvSpPr>
          <p:cNvPr id="6" name="Slide Number Placeholder 5"/>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D316E6-04C5-43E3-AF20-F15A62EE0EF7}" type="datetime1">
              <a:rPr lang="en-IN" smtClean="0"/>
              <a:pPr/>
              <a:t>26-12-2024</a:t>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p>
        </p:txBody>
      </p:sp>
      <p:sp>
        <p:nvSpPr>
          <p:cNvPr id="6" name="Slide Number Placeholder 5"/>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200152"/>
            <a:ext cx="54102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200152"/>
            <a:ext cx="54102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D95AA9F-0A60-496C-B2BD-2F1AA4E7F0CF}" type="datetime1">
              <a:rPr lang="en-IN" smtClean="0"/>
              <a:pPr/>
              <a:t>26-12-2024</a:t>
            </a:fld>
            <a:endParaRPr lang="en-IN" dirty="0"/>
          </a:p>
        </p:txBody>
      </p:sp>
      <p:sp>
        <p:nvSpPr>
          <p:cNvPr id="6" name="Footer Placeholder 5"/>
          <p:cNvSpPr>
            <a:spLocks noGrp="1"/>
          </p:cNvSpPr>
          <p:nvPr>
            <p:ph type="ftr" sz="quarter" idx="11"/>
          </p:nvPr>
        </p:nvSpPr>
        <p:spPr/>
        <p:txBody>
          <a:bodyPr/>
          <a:lstStyle/>
          <a:p>
            <a:r>
              <a:rPr lang="en-IN" dirty="0"/>
              <a:t>BRINDAVAN COLLEGE OF ENGINEERING, Dept. of CSE, BRCE</a:t>
            </a:r>
          </a:p>
        </p:txBody>
      </p:sp>
      <p:sp>
        <p:nvSpPr>
          <p:cNvPr id="7" name="Slide Number Placeholder 6"/>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7"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8BC8431-458B-418D-96C7-87457E5BDC8A}" type="datetime1">
              <a:rPr lang="en-IN" smtClean="0"/>
              <a:pPr/>
              <a:t>26-12-2024</a:t>
            </a:fld>
            <a:endParaRPr lang="en-IN" dirty="0"/>
          </a:p>
        </p:txBody>
      </p:sp>
      <p:sp>
        <p:nvSpPr>
          <p:cNvPr id="8" name="Footer Placeholder 7"/>
          <p:cNvSpPr>
            <a:spLocks noGrp="1"/>
          </p:cNvSpPr>
          <p:nvPr>
            <p:ph type="ftr" sz="quarter" idx="11"/>
          </p:nvPr>
        </p:nvSpPr>
        <p:spPr/>
        <p:txBody>
          <a:bodyPr/>
          <a:lstStyle/>
          <a:p>
            <a:r>
              <a:rPr lang="en-IN" dirty="0"/>
              <a:t>BRINDAVAN COLLEGE OF ENGINEERING, Dept. of CSE, BRCE</a:t>
            </a:r>
          </a:p>
        </p:txBody>
      </p:sp>
      <p:sp>
        <p:nvSpPr>
          <p:cNvPr id="9" name="Slide Number Placeholder 8"/>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4E5D325-9AF3-46D6-8613-C22305129AE0}" type="datetime1">
              <a:rPr lang="en-IN" smtClean="0"/>
              <a:pPr/>
              <a:t>26-12-2024</a:t>
            </a:fld>
            <a:endParaRPr lang="en-IN" dirty="0"/>
          </a:p>
        </p:txBody>
      </p:sp>
      <p:sp>
        <p:nvSpPr>
          <p:cNvPr id="4" name="Footer Placeholder 3"/>
          <p:cNvSpPr>
            <a:spLocks noGrp="1"/>
          </p:cNvSpPr>
          <p:nvPr>
            <p:ph type="ftr" sz="quarter" idx="11"/>
          </p:nvPr>
        </p:nvSpPr>
        <p:spPr/>
        <p:txBody>
          <a:bodyPr/>
          <a:lstStyle/>
          <a:p>
            <a:r>
              <a:rPr lang="en-IN" dirty="0"/>
              <a:t>BRINDAVAN COLLEGE OF ENGINEERING, Dept. of CSE, BRCE</a:t>
            </a:r>
          </a:p>
        </p:txBody>
      </p:sp>
      <p:sp>
        <p:nvSpPr>
          <p:cNvPr id="5" name="Slide Number Placeholder 4"/>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FD5E6F-4E07-4AB6-BBE1-E8E61011B524}" type="datetime1">
              <a:rPr lang="en-IN" smtClean="0"/>
              <a:pPr/>
              <a:t>26-12-2024</a:t>
            </a:fld>
            <a:endParaRPr lang="en-IN" dirty="0"/>
          </a:p>
        </p:txBody>
      </p:sp>
      <p:sp>
        <p:nvSpPr>
          <p:cNvPr id="3" name="Footer Placeholder 2"/>
          <p:cNvSpPr>
            <a:spLocks noGrp="1"/>
          </p:cNvSpPr>
          <p:nvPr>
            <p:ph type="ftr" sz="quarter" idx="11"/>
          </p:nvPr>
        </p:nvSpPr>
        <p:spPr/>
        <p:txBody>
          <a:bodyPr/>
          <a:lstStyle/>
          <a:p>
            <a:r>
              <a:rPr lang="en-IN" dirty="0"/>
              <a:t>BRINDAVAN COLLEGE OF ENGINEERING, Dept. of CSE, BRCE</a:t>
            </a:r>
          </a:p>
        </p:txBody>
      </p:sp>
      <p:sp>
        <p:nvSpPr>
          <p:cNvPr id="4" name="Slide Number Placeholder 3"/>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9A7424-961B-477F-B85E-FBDA3F586476}" type="datetime1">
              <a:rPr lang="en-IN" smtClean="0"/>
              <a:pPr/>
              <a:t>26-12-2024</a:t>
            </a:fld>
            <a:endParaRPr lang="en-IN" dirty="0"/>
          </a:p>
        </p:txBody>
      </p:sp>
      <p:sp>
        <p:nvSpPr>
          <p:cNvPr id="6" name="Footer Placeholder 5"/>
          <p:cNvSpPr>
            <a:spLocks noGrp="1"/>
          </p:cNvSpPr>
          <p:nvPr>
            <p:ph type="ftr" sz="quarter" idx="11"/>
          </p:nvPr>
        </p:nvSpPr>
        <p:spPr/>
        <p:txBody>
          <a:bodyPr/>
          <a:lstStyle/>
          <a:p>
            <a:r>
              <a:rPr lang="en-IN" dirty="0"/>
              <a:t>BRINDAVAN COLLEGE OF ENGINEERING, Dept. of CSE, BRCE</a:t>
            </a:r>
          </a:p>
        </p:txBody>
      </p:sp>
      <p:sp>
        <p:nvSpPr>
          <p:cNvPr id="7" name="Slide Number Placeholder 6"/>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E67DD6-C3C1-4056-9E2C-F558B0E993FB}" type="datetime1">
              <a:rPr lang="en-IN" smtClean="0"/>
              <a:pPr/>
              <a:t>26-12-2024</a:t>
            </a:fld>
            <a:endParaRPr lang="en-IN" dirty="0"/>
          </a:p>
        </p:txBody>
      </p:sp>
      <p:sp>
        <p:nvSpPr>
          <p:cNvPr id="6" name="Footer Placeholder 5"/>
          <p:cNvSpPr>
            <a:spLocks noGrp="1"/>
          </p:cNvSpPr>
          <p:nvPr>
            <p:ph type="ftr" sz="quarter" idx="11"/>
          </p:nvPr>
        </p:nvSpPr>
        <p:spPr/>
        <p:txBody>
          <a:bodyPr/>
          <a:lstStyle/>
          <a:p>
            <a:r>
              <a:rPr lang="en-IN" dirty="0"/>
              <a:t>BRINDAVAN COLLEGE OF ENGINEERING, Dept. of CSE, BRCE</a:t>
            </a:r>
          </a:p>
        </p:txBody>
      </p:sp>
      <p:sp>
        <p:nvSpPr>
          <p:cNvPr id="7" name="Slide Number Placeholder 6"/>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02E245-553C-4C29-A4F4-AC3C03D6A350}" type="datetime1">
              <a:rPr lang="en-IN" smtClean="0"/>
              <a:pPr/>
              <a:t>26-12-2024</a:t>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p>
        </p:txBody>
      </p:sp>
      <p:sp>
        <p:nvSpPr>
          <p:cNvPr id="6" name="Slide Number Placeholder 5"/>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5980"/>
            <a:ext cx="2743200" cy="438864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05980"/>
            <a:ext cx="80772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927D39A-D81B-4CB3-9BC9-5282761BED63}" type="datetime1">
              <a:rPr lang="en-IN" smtClean="0"/>
              <a:pPr/>
              <a:t>26-12-2024</a:t>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p>
        </p:txBody>
      </p:sp>
      <p:sp>
        <p:nvSpPr>
          <p:cNvPr id="6" name="Slide Number Placeholder 5"/>
          <p:cNvSpPr>
            <a:spLocks noGrp="1"/>
          </p:cNvSpPr>
          <p:nvPr>
            <p:ph type="sldNum" sz="quarter" idx="12"/>
          </p:nvPr>
        </p:nvSpPr>
        <p:spPr/>
        <p:txBody>
          <a:bodyPr/>
          <a:lstStyle/>
          <a:p>
            <a:fld id="{80999B1E-9774-4338-A494-7EE81CDA6832}"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200152"/>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F11329F-73AA-44B3-9402-541CC2B40ED5}" type="datetime1">
              <a:rPr lang="en-IN" smtClean="0"/>
              <a:pPr/>
              <a:t>26-12-2024</a:t>
            </a:fld>
            <a:endParaRPr lang="en-IN"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BRINDAVAN COLLEGE OF ENGINEERING, Dept. of CSE, BRCE</a:t>
            </a: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0999B1E-9774-4338-A494-7EE81CDA6832}"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ieeexplore.ieee.org/document/8397623" TargetMode="External"/><Relationship Id="rId2" Type="http://schemas.openxmlformats.org/officeDocument/2006/relationships/hyperlink" Target="https://ieeexplore.ieee.org/document/8701396/"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512" y="-2942"/>
            <a:ext cx="7488832" cy="701533"/>
          </a:xfrm>
        </p:spPr>
        <p:txBody>
          <a:bodyPr>
            <a:noAutofit/>
          </a:bodyPr>
          <a:lstStyle/>
          <a:p>
            <a:endParaRPr lang="en-IN" altLang="en-US" sz="3600" dirty="0">
              <a:solidFill>
                <a:schemeClr val="tx2">
                  <a:lumMod val="75000"/>
                </a:schemeClr>
              </a:solidFill>
              <a:latin typeface="AmericanText BT" panose="03040702020708020505" pitchFamily="66" charset="0"/>
            </a:endParaRPr>
          </a:p>
        </p:txBody>
      </p:sp>
      <p:sp>
        <p:nvSpPr>
          <p:cNvPr id="8" name="TextBox 7"/>
          <p:cNvSpPr txBox="1"/>
          <p:nvPr/>
        </p:nvSpPr>
        <p:spPr>
          <a:xfrm>
            <a:off x="611560" y="3142297"/>
            <a:ext cx="4871706" cy="1877437"/>
          </a:xfrm>
          <a:prstGeom prst="rect">
            <a:avLst/>
          </a:prstGeom>
          <a:noFill/>
        </p:spPr>
        <p:txBody>
          <a:bodyPr wrap="square" rtlCol="0">
            <a:spAutoFit/>
          </a:bodyPr>
          <a:lstStyle/>
          <a:p>
            <a:r>
              <a:rPr lang="en-IN" b="1" dirty="0">
                <a:latin typeface="Times New Roman" panose="02020603050405020304" pitchFamily="18" charset="0"/>
                <a:ea typeface="Cambria" panose="02040503050406030204" pitchFamily="18" charset="0"/>
                <a:cs typeface="Times New Roman" panose="02020603050405020304" pitchFamily="18" charset="0"/>
              </a:rPr>
              <a:t>Presentation By: </a:t>
            </a:r>
            <a:r>
              <a:rPr lang="en-IN" b="1" dirty="0" smtClean="0">
                <a:latin typeface="Times New Roman" panose="02020603050405020304" pitchFamily="18" charset="0"/>
                <a:ea typeface="Cambria" panose="02040503050406030204" pitchFamily="18" charset="0"/>
                <a:cs typeface="Times New Roman" panose="02020603050405020304" pitchFamily="18" charset="0"/>
              </a:rPr>
              <a:t>Group-18</a:t>
            </a:r>
            <a:endParaRPr lang="en-IN" b="1" dirty="0">
              <a:latin typeface="Times New Roman" panose="02020603050405020304" pitchFamily="18" charset="0"/>
              <a:ea typeface="Cambria" panose="02040503050406030204" pitchFamily="18" charset="0"/>
              <a:cs typeface="Times New Roman" panose="02020603050405020304" pitchFamily="18" charset="0"/>
            </a:endParaRPr>
          </a:p>
          <a:p>
            <a:endParaRPr lang="en-IN" sz="1400" b="1" dirty="0">
              <a:latin typeface="Times New Roman" panose="02020603050405020304" pitchFamily="18" charset="0"/>
              <a:ea typeface="Cambria" panose="02040503050406030204" pitchFamily="18" charset="0"/>
              <a:cs typeface="Times New Roman" panose="02020603050405020304" pitchFamily="18" charset="0"/>
            </a:endParaRPr>
          </a:p>
          <a:p>
            <a:r>
              <a:rPr lang="en-IN" sz="1400" b="1" dirty="0">
                <a:latin typeface="Times New Roman" panose="02020603050405020304" pitchFamily="18" charset="0"/>
                <a:ea typeface="Cambria" panose="02040503050406030204" pitchFamily="18" charset="0"/>
                <a:cs typeface="Times New Roman" panose="02020603050405020304" pitchFamily="18" charset="0"/>
              </a:rPr>
              <a:t>       Name</a:t>
            </a:r>
            <a:r>
              <a:rPr lang="en-IN" sz="1400" dirty="0">
                <a:latin typeface="Times New Roman" panose="02020603050405020304" pitchFamily="18" charset="0"/>
                <a:ea typeface="Cambria" panose="02040503050406030204" pitchFamily="18" charset="0"/>
                <a:cs typeface="Times New Roman" panose="02020603050405020304" pitchFamily="18" charset="0"/>
              </a:rPr>
              <a:t> 		                               </a:t>
            </a:r>
            <a:r>
              <a:rPr lang="en-IN" sz="1400" b="1" dirty="0">
                <a:latin typeface="Times New Roman" panose="02020603050405020304" pitchFamily="18" charset="0"/>
                <a:ea typeface="Cambria" panose="02040503050406030204" pitchFamily="18" charset="0"/>
                <a:cs typeface="Times New Roman" panose="02020603050405020304" pitchFamily="18" charset="0"/>
              </a:rPr>
              <a:t>USN</a:t>
            </a:r>
          </a:p>
          <a:p>
            <a:r>
              <a:rPr lang="en-US" sz="1400" dirty="0" smtClean="0">
                <a:latin typeface="Times New Roman" panose="02020603050405020304" pitchFamily="18" charset="0"/>
                <a:ea typeface="Cambria" panose="02040503050406030204" pitchFamily="18" charset="0"/>
                <a:cs typeface="Times New Roman" panose="02020603050405020304" pitchFamily="18" charset="0"/>
              </a:rPr>
              <a:t>THEJASHREE C G</a:t>
            </a:r>
            <a:r>
              <a:rPr lang="en-US" sz="1400" dirty="0">
                <a:latin typeface="Times New Roman" panose="02020603050405020304" pitchFamily="18" charset="0"/>
                <a:ea typeface="Cambria" panose="02040503050406030204" pitchFamily="18" charset="0"/>
                <a:cs typeface="Times New Roman" panose="02020603050405020304" pitchFamily="18" charset="0"/>
              </a:rPr>
              <a:t>		</a:t>
            </a:r>
            <a:r>
              <a:rPr lang="en-US" sz="1400" dirty="0" smtClean="0">
                <a:latin typeface="Times New Roman" panose="02020603050405020304" pitchFamily="18" charset="0"/>
                <a:ea typeface="Cambria" panose="02040503050406030204" pitchFamily="18" charset="0"/>
                <a:cs typeface="Times New Roman" panose="02020603050405020304" pitchFamily="18" charset="0"/>
              </a:rPr>
              <a:t>1BO21CS064</a:t>
            </a:r>
            <a:endParaRPr lang="en-US" sz="1400" dirty="0">
              <a:latin typeface="Times New Roman" panose="02020603050405020304" pitchFamily="18" charset="0"/>
              <a:ea typeface="Cambria" panose="02040503050406030204" pitchFamily="18" charset="0"/>
              <a:cs typeface="Times New Roman" panose="02020603050405020304" pitchFamily="18" charset="0"/>
            </a:endParaRPr>
          </a:p>
          <a:p>
            <a:r>
              <a:rPr lang="en-US" sz="1400" dirty="0" smtClean="0">
                <a:latin typeface="Times New Roman" panose="02020603050405020304" pitchFamily="18" charset="0"/>
                <a:ea typeface="Cambria" panose="02040503050406030204" pitchFamily="18" charset="0"/>
                <a:cs typeface="Times New Roman" panose="02020603050405020304" pitchFamily="18" charset="0"/>
              </a:rPr>
              <a:t>VAISHALI G V</a:t>
            </a:r>
            <a:r>
              <a:rPr lang="en-US" sz="1400" dirty="0">
                <a:latin typeface="Times New Roman" panose="02020603050405020304" pitchFamily="18" charset="0"/>
                <a:ea typeface="Cambria" panose="02040503050406030204" pitchFamily="18" charset="0"/>
                <a:cs typeface="Times New Roman" panose="02020603050405020304" pitchFamily="18" charset="0"/>
              </a:rPr>
              <a:t>	</a:t>
            </a:r>
            <a:r>
              <a:rPr lang="en-US" sz="1400" dirty="0" smtClean="0">
                <a:latin typeface="Times New Roman" panose="02020603050405020304" pitchFamily="18" charset="0"/>
                <a:ea typeface="Cambria" panose="02040503050406030204" pitchFamily="18" charset="0"/>
                <a:cs typeface="Times New Roman" panose="02020603050405020304" pitchFamily="18" charset="0"/>
              </a:rPr>
              <a:t>                     1BO21CS065</a:t>
            </a:r>
          </a:p>
          <a:p>
            <a:r>
              <a:rPr lang="en-US" sz="1400" dirty="0" smtClean="0">
                <a:latin typeface="Times New Roman" panose="02020603050405020304" pitchFamily="18" charset="0"/>
                <a:ea typeface="Cambria" panose="02040503050406030204" pitchFamily="18" charset="0"/>
                <a:cs typeface="Times New Roman" panose="02020603050405020304" pitchFamily="18" charset="0"/>
              </a:rPr>
              <a:t>VIBHA S GOWDA</a:t>
            </a:r>
            <a:r>
              <a:rPr lang="en-US" sz="1400" dirty="0">
                <a:latin typeface="Times New Roman" panose="02020603050405020304" pitchFamily="18" charset="0"/>
                <a:ea typeface="Cambria" panose="02040503050406030204" pitchFamily="18" charset="0"/>
                <a:cs typeface="Times New Roman" panose="02020603050405020304" pitchFamily="18" charset="0"/>
              </a:rPr>
              <a:t>		</a:t>
            </a:r>
            <a:r>
              <a:rPr lang="en-US" sz="1400" dirty="0" smtClean="0">
                <a:latin typeface="Times New Roman" panose="02020603050405020304" pitchFamily="18" charset="0"/>
                <a:ea typeface="Cambria" panose="02040503050406030204" pitchFamily="18" charset="0"/>
                <a:cs typeface="Times New Roman" panose="02020603050405020304" pitchFamily="18" charset="0"/>
              </a:rPr>
              <a:t>1BO21CS066</a:t>
            </a:r>
            <a:endParaRPr lang="en-US" sz="1400" dirty="0">
              <a:latin typeface="Times New Roman" panose="02020603050405020304" pitchFamily="18" charset="0"/>
              <a:ea typeface="Cambria" panose="02040503050406030204" pitchFamily="18" charset="0"/>
              <a:cs typeface="Times New Roman" panose="02020603050405020304" pitchFamily="18" charset="0"/>
            </a:endParaRPr>
          </a:p>
          <a:p>
            <a:r>
              <a:rPr lang="en-US" sz="1400" dirty="0" smtClean="0">
                <a:latin typeface="Times New Roman" panose="02020603050405020304" pitchFamily="18" charset="0"/>
                <a:ea typeface="Cambria" panose="02040503050406030204" pitchFamily="18" charset="0"/>
                <a:cs typeface="Times New Roman" panose="02020603050405020304" pitchFamily="18" charset="0"/>
              </a:rPr>
              <a:t>CHARANA R</a:t>
            </a:r>
            <a:r>
              <a:rPr lang="en-US" sz="1400" dirty="0">
                <a:latin typeface="Times New Roman" panose="02020603050405020304" pitchFamily="18" charset="0"/>
                <a:ea typeface="Cambria" panose="02040503050406030204" pitchFamily="18" charset="0"/>
                <a:cs typeface="Times New Roman" panose="02020603050405020304" pitchFamily="18" charset="0"/>
              </a:rPr>
              <a:t>		</a:t>
            </a:r>
            <a:r>
              <a:rPr lang="en-US" sz="1400" dirty="0" smtClean="0">
                <a:latin typeface="Times New Roman" panose="02020603050405020304" pitchFamily="18" charset="0"/>
                <a:ea typeface="Cambria" panose="02040503050406030204" pitchFamily="18" charset="0"/>
                <a:cs typeface="Times New Roman" panose="02020603050405020304" pitchFamily="18" charset="0"/>
              </a:rPr>
              <a:t>1BO22CS405</a:t>
            </a:r>
            <a:endParaRPr lang="en-IN" sz="1400" dirty="0">
              <a:latin typeface="Times New Roman" panose="02020603050405020304" pitchFamily="18" charset="0"/>
              <a:ea typeface="Cambria" panose="02040503050406030204" pitchFamily="18" charset="0"/>
              <a:cs typeface="Times New Roman" panose="02020603050405020304" pitchFamily="18" charset="0"/>
            </a:endParaRPr>
          </a:p>
          <a:p>
            <a:endParaRPr lang="en-IN" sz="1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Rectangle 4"/>
          <p:cNvSpPr/>
          <p:nvPr/>
        </p:nvSpPr>
        <p:spPr>
          <a:xfrm>
            <a:off x="780415" y="1563370"/>
            <a:ext cx="7546975" cy="992579"/>
          </a:xfrm>
          <a:prstGeom prst="rect">
            <a:avLst/>
          </a:prstGeom>
        </p:spPr>
        <p:txBody>
          <a:bodyPr wrap="square">
            <a:spAutoFit/>
          </a:bodyPr>
          <a:lstStyle/>
          <a:p>
            <a:pPr algn="ctr">
              <a:lnSpc>
                <a:spcPct val="150000"/>
              </a:lnSpc>
            </a:pPr>
            <a:r>
              <a:rPr lang="en-IN" b="1" dirty="0">
                <a:solidFill>
                  <a:srgbClr val="FF0000"/>
                </a:solidFill>
                <a:latin typeface="Times New Roman" panose="02020603050405020304" pitchFamily="18" charset="0"/>
                <a:ea typeface="+mj-ea"/>
                <a:cs typeface="Times New Roman" panose="02020603050405020304" pitchFamily="18" charset="0"/>
              </a:rPr>
              <a:t> </a:t>
            </a:r>
          </a:p>
          <a:p>
            <a:pPr algn="ctr">
              <a:lnSpc>
                <a:spcPct val="150000"/>
              </a:lnSpc>
            </a:pPr>
            <a:r>
              <a:rPr lang="en-IN" sz="2100" b="1" dirty="0" smtClean="0">
                <a:solidFill>
                  <a:srgbClr val="FF0000"/>
                </a:solidFill>
                <a:latin typeface="Times New Roman" panose="02020603050405020304" pitchFamily="18" charset="0"/>
                <a:ea typeface="Cambria" panose="02040503050406030204" pitchFamily="18" charset="0"/>
                <a:cs typeface="Times New Roman" panose="02020603050405020304" pitchFamily="18" charset="0"/>
              </a:rPr>
              <a:t>“</a:t>
            </a:r>
            <a:r>
              <a:rPr lang="en-IN" sz="2100" b="1" dirty="0" err="1" smtClean="0">
                <a:solidFill>
                  <a:srgbClr val="FF0000"/>
                </a:solidFill>
                <a:latin typeface="Times New Roman" panose="02020603050405020304" pitchFamily="18" charset="0"/>
                <a:ea typeface="Cambria" panose="02040503050406030204" pitchFamily="18" charset="0"/>
                <a:cs typeface="Times New Roman" panose="02020603050405020304" pitchFamily="18" charset="0"/>
              </a:rPr>
              <a:t>Fraudify</a:t>
            </a:r>
            <a:r>
              <a:rPr lang="en-IN" sz="2100" b="1" dirty="0" smtClean="0">
                <a:solidFill>
                  <a:srgbClr val="FF0000"/>
                </a:solidFill>
                <a:latin typeface="Times New Roman" panose="02020603050405020304" pitchFamily="18" charset="0"/>
                <a:ea typeface="Cambria" panose="02040503050406030204" pitchFamily="18" charset="0"/>
                <a:cs typeface="Times New Roman" panose="02020603050405020304" pitchFamily="18" charset="0"/>
              </a:rPr>
              <a:t>-</a:t>
            </a:r>
            <a:r>
              <a:rPr lang="en-US" sz="2100" b="1" dirty="0" smtClean="0">
                <a:solidFill>
                  <a:srgbClr val="FF0000"/>
                </a:solidFill>
                <a:latin typeface="Times New Roman" panose="02020603050405020304" pitchFamily="18" charset="0"/>
                <a:ea typeface="Cambria" panose="02040503050406030204" pitchFamily="18" charset="0"/>
                <a:cs typeface="Times New Roman" panose="02020603050405020304" pitchFamily="18" charset="0"/>
              </a:rPr>
              <a:t>F</a:t>
            </a:r>
            <a:r>
              <a:rPr lang="en-US" sz="2100" b="1" dirty="0" smtClean="0">
                <a:solidFill>
                  <a:srgbClr val="FF0000"/>
                </a:solidFill>
                <a:latin typeface="Times New Roman" panose="02020603050405020304" pitchFamily="18" charset="0"/>
                <a:ea typeface="Cambria" panose="02040503050406030204" pitchFamily="18" charset="0"/>
                <a:cs typeface="Times New Roman" panose="02020603050405020304" pitchFamily="18" charset="0"/>
              </a:rPr>
              <a:t>ighting Financial Crime With Machine Learning</a:t>
            </a:r>
            <a:r>
              <a:rPr lang="en-IN" sz="2100" b="1" dirty="0" smtClean="0">
                <a:solidFill>
                  <a:srgbClr val="FF0000"/>
                </a:solidFill>
                <a:latin typeface="Times New Roman" panose="02020603050405020304" pitchFamily="18" charset="0"/>
                <a:ea typeface="Cambria" panose="02040503050406030204" pitchFamily="18" charset="0"/>
                <a:cs typeface="Times New Roman" panose="02020603050405020304" pitchFamily="18" charset="0"/>
              </a:rPr>
              <a:t>”</a:t>
            </a:r>
            <a:endParaRPr lang="en-IN"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Box 3"/>
          <p:cNvSpPr txBox="1"/>
          <p:nvPr/>
        </p:nvSpPr>
        <p:spPr>
          <a:xfrm>
            <a:off x="0" y="741680"/>
            <a:ext cx="8888730" cy="645160"/>
          </a:xfrm>
          <a:prstGeom prst="rect">
            <a:avLst/>
          </a:prstGeom>
          <a:noFill/>
        </p:spPr>
        <p:txBody>
          <a:bodyPr wrap="square" rtlCol="0">
            <a:spAutoFit/>
          </a:bodyPr>
          <a:lstStyle/>
          <a:p>
            <a:endParaRPr lang="en-US" b="1" dirty="0" err="1">
              <a:latin typeface="Times New Roman" panose="02020603050405020304" pitchFamily="18" charset="0"/>
              <a:cs typeface="Times New Roman" panose="02020603050405020304" pitchFamily="18" charset="0"/>
            </a:endParaRPr>
          </a:p>
          <a:p>
            <a:r>
              <a:rPr lang="en-IN" alt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Department of Computer Science and Engineering</a:t>
            </a:r>
            <a:endParaRPr lang="en-IN"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486660" y="1491615"/>
            <a:ext cx="4170680" cy="368300"/>
          </a:xfrm>
          <a:prstGeom prst="rect">
            <a:avLst/>
          </a:prstGeom>
          <a:noFill/>
        </p:spPr>
        <p:txBody>
          <a:bodyPr wrap="square" rtlCol="0">
            <a:spAutoFit/>
          </a:bodyPr>
          <a:lstStyle/>
          <a:p>
            <a:r>
              <a:rPr lang="en-IN" alt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 Project Presentation on</a:t>
            </a:r>
            <a:endParaRPr lang="en-IN"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793874" y="3003798"/>
            <a:ext cx="3096344" cy="1077218"/>
          </a:xfrm>
          <a:prstGeom prst="rect">
            <a:avLst/>
          </a:prstGeom>
          <a:noFill/>
        </p:spPr>
        <p:txBody>
          <a:bodyPr wrap="square" rtlCol="0">
            <a:spAutoFit/>
          </a:bodyPr>
          <a:lstStyle/>
          <a:p>
            <a:pPr algn="ctr"/>
            <a:endParaRPr lang="en-US" b="1" dirty="0">
              <a:latin typeface="Times New Roman" panose="02020603050405020304" pitchFamily="18" charset="0"/>
              <a:ea typeface="Cambria" panose="02040503050406030204" pitchFamily="18" charset="0"/>
              <a:cs typeface="Times New Roman" panose="02020603050405020304" pitchFamily="18" charset="0"/>
            </a:endParaRPr>
          </a:p>
          <a:p>
            <a:pPr algn="ctr"/>
            <a:r>
              <a:rPr lang="en-US" b="1" dirty="0">
                <a:latin typeface="Times New Roman" panose="02020603050405020304" pitchFamily="18" charset="0"/>
                <a:ea typeface="Cambria" panose="02040503050406030204" pitchFamily="18" charset="0"/>
                <a:cs typeface="Times New Roman" panose="02020603050405020304" pitchFamily="18" charset="0"/>
              </a:rPr>
              <a:t> Under the  Guidance of</a:t>
            </a:r>
            <a:endParaRPr lang="en-US" sz="1400" dirty="0">
              <a:latin typeface="Times New Roman" panose="02020603050405020304" pitchFamily="18" charset="0"/>
              <a:ea typeface="Cambria" panose="02040503050406030204" pitchFamily="18" charset="0"/>
              <a:cs typeface="Times New Roman" panose="02020603050405020304" pitchFamily="18" charset="0"/>
            </a:endParaRPr>
          </a:p>
          <a:p>
            <a:pPr algn="ctr"/>
            <a:r>
              <a:rPr lang="en-US" sz="1400" dirty="0">
                <a:latin typeface="Times New Roman" panose="02020603050405020304" pitchFamily="18" charset="0"/>
                <a:ea typeface="Cambria" panose="02040503050406030204" pitchFamily="18" charset="0"/>
                <a:cs typeface="Times New Roman" panose="02020603050405020304" pitchFamily="18" charset="0"/>
              </a:rPr>
              <a:t>     </a:t>
            </a:r>
            <a:r>
              <a:rPr lang="en-US" sz="1400" dirty="0" smtClean="0">
                <a:latin typeface="Times New Roman" panose="02020603050405020304" pitchFamily="18" charset="0"/>
                <a:ea typeface="Cambria" panose="02040503050406030204" pitchFamily="18" charset="0"/>
                <a:cs typeface="Times New Roman" panose="02020603050405020304" pitchFamily="18" charset="0"/>
              </a:rPr>
              <a:t> Prof,</a:t>
            </a:r>
            <a:r>
              <a:rPr lang="en-IN" sz="1400" dirty="0" err="1" smtClean="0">
                <a:latin typeface="Times New Roman" panose="02020603050405020304" pitchFamily="18" charset="0"/>
                <a:cs typeface="Times New Roman" panose="02020603050405020304" pitchFamily="18" charset="0"/>
              </a:rPr>
              <a:t>Smitha</a:t>
            </a:r>
            <a:r>
              <a:rPr lang="en-IN" sz="1400" dirty="0" smtClean="0">
                <a:latin typeface="Times New Roman" panose="02020603050405020304" pitchFamily="18" charset="0"/>
                <a:cs typeface="Times New Roman" panose="02020603050405020304" pitchFamily="18" charset="0"/>
              </a:rPr>
              <a:t> B.M</a:t>
            </a:r>
            <a:endParaRPr lang="en-US" sz="1400" dirty="0">
              <a:latin typeface="Times New Roman" panose="02020603050405020304" pitchFamily="18" charset="0"/>
              <a:ea typeface="Cambria" panose="02040503050406030204" pitchFamily="18" charset="0"/>
              <a:cs typeface="Times New Roman" panose="02020603050405020304" pitchFamily="18" charset="0"/>
            </a:endParaRPr>
          </a:p>
          <a:p>
            <a:pPr algn="ctr"/>
            <a:r>
              <a:rPr lang="en-US" sz="1400" dirty="0">
                <a:latin typeface="Times New Roman" panose="02020603050405020304" pitchFamily="18" charset="0"/>
                <a:ea typeface="Cambria" panose="02040503050406030204" pitchFamily="18" charset="0"/>
                <a:cs typeface="Times New Roman" panose="02020603050405020304" pitchFamily="18" charset="0"/>
              </a:rPr>
              <a:t>     Dept of CSE, BrCE</a:t>
            </a:r>
            <a:endParaRPr lang="en-IN" sz="1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 name="TextBox 6"/>
          <p:cNvSpPr txBox="1"/>
          <p:nvPr/>
        </p:nvSpPr>
        <p:spPr>
          <a:xfrm>
            <a:off x="0" y="0"/>
            <a:ext cx="914400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3600" dirty="0">
                <a:solidFill>
                  <a:schemeClr val="bg1"/>
                </a:solidFill>
                <a:latin typeface="American Text" panose="02000503020000020004" pitchFamily="2" charset="0"/>
                <a:cs typeface="American Text" panose="02000503020000020004" pitchFamily="2" charset="0"/>
              </a:rPr>
              <a:t>Brindavan College of Engineering</a:t>
            </a:r>
            <a:r>
              <a:rPr lang="en-IN" sz="4800" dirty="0">
                <a:solidFill>
                  <a:schemeClr val="bg1"/>
                </a:solidFill>
                <a:latin typeface="American Text" panose="02000503020000020004" pitchFamily="2" charset="0"/>
                <a:cs typeface="Times New Roman" panose="02020603050405020304" pitchFamily="18" charset="0"/>
              </a:rPr>
              <a:t>  </a:t>
            </a:r>
          </a:p>
        </p:txBody>
      </p:sp>
      <p:pic>
        <p:nvPicPr>
          <p:cNvPr id="14" name="Picture 13">
            <a:extLst>
              <a:ext uri="{FF2B5EF4-FFF2-40B4-BE49-F238E27FC236}">
                <a16:creationId xmlns:a16="http://schemas.microsoft.com/office/drawing/2014/main" id="{E1A57B5D-9BB2-088F-41F8-BB2AF45CE2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sta de compras - ícones de comércio e compras grátis">
            <a:extLst>
              <a:ext uri="{FF2B5EF4-FFF2-40B4-BE49-F238E27FC236}">
                <a16:creationId xmlns:a16="http://schemas.microsoft.com/office/drawing/2014/main" id="{029BACC9-F298-269C-04CC-E2B5315B50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986" y="1300841"/>
            <a:ext cx="2470247" cy="2470247"/>
          </a:xfrm>
          <a:prstGeom prst="roundRect">
            <a:avLst>
              <a:gd name="adj" fmla="val 16667"/>
            </a:avLst>
          </a:prstGeom>
          <a:ln>
            <a:solidFill>
              <a:schemeClr val="bg1"/>
            </a:solid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IN" sz="3200" b="1" dirty="0">
                <a:solidFill>
                  <a:schemeClr val="bg1"/>
                </a:solidFill>
                <a:latin typeface="Times New Roman" panose="02020603050405020304" pitchFamily="18" charset="0"/>
                <a:cs typeface="Times New Roman" panose="02020603050405020304" pitchFamily="18" charset="0"/>
              </a:rPr>
              <a:t>AGENDA</a:t>
            </a:r>
            <a:endParaRPr lang="en-US" sz="40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15616" y="857251"/>
            <a:ext cx="4608512" cy="3946748"/>
          </a:xfrm>
          <a:noFill/>
          <a:ln>
            <a:noFill/>
          </a:ln>
        </p:spPr>
        <p:style>
          <a:lnRef idx="0">
            <a:scrgbClr r="0" g="0" b="0"/>
          </a:lnRef>
          <a:fillRef idx="0">
            <a:scrgbClr r="0" g="0" b="0"/>
          </a:fillRef>
          <a:effectRef idx="0">
            <a:scrgbClr r="0" g="0" b="0"/>
          </a:effectRef>
          <a:fontRef idx="minor">
            <a:schemeClr val="dk1"/>
          </a:fontRef>
        </p:style>
        <p:txBody>
          <a:bodyPr>
            <a:normAutofit fontScale="30000" lnSpcReduction="20000"/>
          </a:bodyPr>
          <a:lstStyle/>
          <a:p>
            <a:pPr>
              <a:lnSpc>
                <a:spcPct val="170000"/>
              </a:lnSpc>
              <a:buFont typeface="Wingdings" pitchFamily="2" charset="2"/>
              <a:buChar char="v"/>
            </a:pPr>
            <a:r>
              <a:rPr lang="en-US" sz="4000" dirty="0">
                <a:latin typeface="Times New Roman" pitchFamily="18" charset="0"/>
                <a:cs typeface="Times New Roman" pitchFamily="18" charset="0"/>
              </a:rPr>
              <a:t>Aim and Objective</a:t>
            </a:r>
          </a:p>
          <a:p>
            <a:pPr>
              <a:lnSpc>
                <a:spcPct val="170000"/>
              </a:lnSpc>
              <a:buFont typeface="Wingdings" pitchFamily="2" charset="2"/>
              <a:buChar char="v"/>
            </a:pPr>
            <a:r>
              <a:rPr lang="en-US" sz="4000" dirty="0">
                <a:latin typeface="Times New Roman" pitchFamily="18" charset="0"/>
                <a:cs typeface="Times New Roman" pitchFamily="18" charset="0"/>
              </a:rPr>
              <a:t>Problem Statement</a:t>
            </a:r>
          </a:p>
          <a:p>
            <a:pPr>
              <a:lnSpc>
                <a:spcPct val="170000"/>
              </a:lnSpc>
              <a:buFont typeface="Wingdings" pitchFamily="2" charset="2"/>
              <a:buChar char="v"/>
            </a:pPr>
            <a:r>
              <a:rPr lang="en-US" sz="4000" dirty="0">
                <a:latin typeface="Times New Roman" pitchFamily="18" charset="0"/>
                <a:cs typeface="Times New Roman" pitchFamily="18" charset="0"/>
              </a:rPr>
              <a:t>Abstract</a:t>
            </a:r>
          </a:p>
          <a:p>
            <a:pPr>
              <a:lnSpc>
                <a:spcPct val="170000"/>
              </a:lnSpc>
              <a:buFont typeface="Wingdings" pitchFamily="2" charset="2"/>
              <a:buChar char="v"/>
            </a:pPr>
            <a:r>
              <a:rPr lang="en-US" sz="4000" dirty="0">
                <a:latin typeface="Times New Roman" pitchFamily="18" charset="0"/>
                <a:cs typeface="Times New Roman" pitchFamily="18" charset="0"/>
              </a:rPr>
              <a:t>Introduction</a:t>
            </a:r>
          </a:p>
          <a:p>
            <a:pPr>
              <a:lnSpc>
                <a:spcPct val="170000"/>
              </a:lnSpc>
              <a:buFont typeface="Wingdings" pitchFamily="2" charset="2"/>
              <a:buChar char="v"/>
            </a:pPr>
            <a:r>
              <a:rPr lang="en-US" sz="4000" dirty="0">
                <a:latin typeface="Times New Roman" pitchFamily="18" charset="0"/>
                <a:cs typeface="Times New Roman" pitchFamily="18" charset="0"/>
              </a:rPr>
              <a:t>Literature Survey</a:t>
            </a:r>
          </a:p>
          <a:p>
            <a:pPr>
              <a:lnSpc>
                <a:spcPct val="170000"/>
              </a:lnSpc>
              <a:buFont typeface="Wingdings" pitchFamily="2" charset="2"/>
              <a:buChar char="v"/>
            </a:pPr>
            <a:r>
              <a:rPr lang="en-US" sz="4000" dirty="0">
                <a:latin typeface="Times New Roman" pitchFamily="18" charset="0"/>
                <a:cs typeface="Times New Roman" pitchFamily="18" charset="0"/>
              </a:rPr>
              <a:t>Existing System(Problem Identification)</a:t>
            </a:r>
          </a:p>
          <a:p>
            <a:pPr>
              <a:lnSpc>
                <a:spcPct val="170000"/>
              </a:lnSpc>
              <a:buFont typeface="Wingdings" pitchFamily="2" charset="2"/>
              <a:buChar char="v"/>
            </a:pPr>
            <a:r>
              <a:rPr lang="en-US" sz="4000" dirty="0">
                <a:latin typeface="Times New Roman" pitchFamily="18" charset="0"/>
                <a:cs typeface="Times New Roman" pitchFamily="18" charset="0"/>
              </a:rPr>
              <a:t>Proposed  System (Objective and Methodology)</a:t>
            </a:r>
            <a:r>
              <a:rPr lang="en-US" sz="4000" dirty="0">
                <a:solidFill>
                  <a:schemeClr val="bg1"/>
                </a:solidFill>
                <a:latin typeface="Times New Roman" panose="02020603050405020304" pitchFamily="18" charset="0"/>
                <a:cs typeface="Times New Roman" panose="02020603050405020304" pitchFamily="18" charset="0"/>
              </a:rPr>
              <a:t> </a:t>
            </a:r>
          </a:p>
          <a:p>
            <a:pPr>
              <a:lnSpc>
                <a:spcPct val="170000"/>
              </a:lnSpc>
              <a:buFont typeface="Wingdings" pitchFamily="2" charset="2"/>
              <a:buChar char="v"/>
            </a:pPr>
            <a:r>
              <a:rPr lang="en-US" sz="4000" dirty="0">
                <a:latin typeface="Times New Roman" pitchFamily="18" charset="0"/>
                <a:cs typeface="Times New Roman" pitchFamily="18" charset="0"/>
              </a:rPr>
              <a:t>System Requirements Specification</a:t>
            </a:r>
          </a:p>
          <a:p>
            <a:pPr>
              <a:lnSpc>
                <a:spcPct val="170000"/>
              </a:lnSpc>
              <a:buFont typeface="Wingdings" pitchFamily="2" charset="2"/>
              <a:buChar char="v"/>
            </a:pPr>
            <a:r>
              <a:rPr lang="en-US" sz="4000" dirty="0">
                <a:latin typeface="Times New Roman" pitchFamily="18" charset="0"/>
                <a:cs typeface="Times New Roman" pitchFamily="18" charset="0"/>
              </a:rPr>
              <a:t>System Design</a:t>
            </a:r>
          </a:p>
          <a:p>
            <a:pPr>
              <a:lnSpc>
                <a:spcPct val="170000"/>
              </a:lnSpc>
              <a:buFont typeface="Wingdings" pitchFamily="2" charset="2"/>
              <a:buChar char="v"/>
            </a:pPr>
            <a:r>
              <a:rPr lang="en-US" sz="4000" dirty="0">
                <a:latin typeface="Times New Roman" pitchFamily="18" charset="0"/>
                <a:cs typeface="Times New Roman" pitchFamily="18" charset="0"/>
              </a:rPr>
              <a:t>References</a:t>
            </a:r>
          </a:p>
          <a:p>
            <a:pPr>
              <a:lnSpc>
                <a:spcPct val="170000"/>
              </a:lnSpc>
              <a:buFont typeface="Wingdings" pitchFamily="2" charset="2"/>
              <a:buChar char="v"/>
            </a:pPr>
            <a:r>
              <a:rPr lang="en-US" sz="4000" dirty="0">
                <a:latin typeface="Times New Roman" pitchFamily="18" charset="0"/>
                <a:cs typeface="Times New Roman" pitchFamily="18" charset="0"/>
              </a:rPr>
              <a:t>Modules</a:t>
            </a:r>
          </a:p>
          <a:p>
            <a:pPr>
              <a:lnSpc>
                <a:spcPct val="170000"/>
              </a:lnSpc>
              <a:buFont typeface="Wingdings" pitchFamily="2" charset="2"/>
              <a:buChar char="v"/>
            </a:pPr>
            <a:r>
              <a:rPr lang="en-US" sz="4000" dirty="0">
                <a:latin typeface="Times New Roman" pitchFamily="18" charset="0"/>
                <a:cs typeface="Times New Roman" pitchFamily="18" charset="0"/>
              </a:rPr>
              <a:t>Implementation</a:t>
            </a:r>
          </a:p>
          <a:p>
            <a:pPr marL="0" indent="0">
              <a:lnSpc>
                <a:spcPct val="170000"/>
              </a:lnSpc>
              <a:buNone/>
            </a:pPr>
            <a:endParaRPr lang="en-IN" sz="1600" i="1" dirty="0">
              <a:solidFill>
                <a:srgbClr val="002060"/>
              </a:solidFill>
              <a:latin typeface="Times New Roman" pitchFamily="18" charset="0"/>
              <a:cs typeface="Times New Roman"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pPr/>
              <a:t>2</a:t>
            </a:fld>
            <a:endParaRPr lang="en-IN" dirty="0"/>
          </a:p>
        </p:txBody>
      </p:sp>
      <p:pic>
        <p:nvPicPr>
          <p:cNvPr id="17" name="Content Placeholder 16"/>
          <p:cNvPicPr>
            <a:picLocks noGrp="1" noChangeAspect="1"/>
          </p:cNvPicPr>
          <p:nvPr>
            <p:ph sz="half" idx="2"/>
          </p:nvPr>
        </p:nvPicPr>
        <p:blipFill>
          <a:blip r:embed="rId4" cstate="print"/>
          <a:stretch>
            <a:fillRect/>
          </a:stretch>
        </p:blipFill>
        <p:spPr>
          <a:xfrm>
            <a:off x="7884160" y="233045"/>
            <a:ext cx="945515" cy="857885"/>
          </a:xfrm>
          <a:prstGeom prst="rect">
            <a:avLst/>
          </a:prstGeom>
        </p:spPr>
      </p:pic>
      <p:sp>
        <p:nvSpPr>
          <p:cNvPr id="13" name="TextBox 6"/>
          <p:cNvSpPr txBox="1"/>
          <p:nvPr/>
        </p:nvSpPr>
        <p:spPr>
          <a:xfrm>
            <a:off x="0" y="0"/>
            <a:ext cx="913638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16" name="Title 1"/>
          <p:cNvSpPr txBox="1">
            <a:spLocks/>
          </p:cNvSpPr>
          <p:nvPr/>
        </p:nvSpPr>
        <p:spPr>
          <a:xfrm>
            <a:off x="457200" y="-20538"/>
            <a:ext cx="8229600" cy="85725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altLang="en-US" sz="2000" b="1" dirty="0">
                <a:solidFill>
                  <a:schemeClr val="bg1"/>
                </a:solidFill>
                <a:latin typeface="Times New Roman" panose="02020603050405020304" pitchFamily="18" charset="0"/>
                <a:ea typeface="+mj-ea"/>
                <a:cs typeface="Times New Roman" panose="02020603050405020304" pitchFamily="18" charset="0"/>
              </a:rPr>
              <a:t>AGENDA</a:t>
            </a:r>
            <a:endParaRPr kumimoji="0" lang="en-I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pic>
        <p:nvPicPr>
          <p:cNvPr id="4" name="Picture 3">
            <a:extLst>
              <a:ext uri="{FF2B5EF4-FFF2-40B4-BE49-F238E27FC236}">
                <a16:creationId xmlns:a16="http://schemas.microsoft.com/office/drawing/2014/main" id="{567564A4-3EE8-B5D5-E947-D03F3E80D8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Date Placeholder 5">
            <a:extLst>
              <a:ext uri="{FF2B5EF4-FFF2-40B4-BE49-F238E27FC236}">
                <a16:creationId xmlns:a16="http://schemas.microsoft.com/office/drawing/2014/main" id="{C3E8BB68-B4D2-F814-5DC9-AB16BBB934B6}"/>
              </a:ext>
            </a:extLst>
          </p:cNvPr>
          <p:cNvSpPr>
            <a:spLocks noGrp="1"/>
          </p:cNvSpPr>
          <p:nvPr>
            <p:ph type="dt" sz="half" idx="10"/>
          </p:nvPr>
        </p:nvSpPr>
        <p:spPr>
          <a:xfrm>
            <a:off x="457200" y="4767264"/>
            <a:ext cx="2133600" cy="273844"/>
          </a:xfrm>
        </p:spPr>
        <p:txBody>
          <a:bodyPr/>
          <a:lstStyle/>
          <a:p>
            <a:fld id="{520F01C7-7035-48E6-88FF-2726E45CD5ED}" type="datetime1">
              <a:rPr lang="en-IN" smtClean="0"/>
              <a:pPr/>
              <a:t>26-12-2024</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3638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p:txBody>
          <a:bodyPr>
            <a:noAutofit/>
          </a:bodyPr>
          <a:lstStyle/>
          <a:p>
            <a:r>
              <a:rPr lang="en-IN" altLang="en-US" sz="2000" b="1" dirty="0">
                <a:solidFill>
                  <a:schemeClr val="bg1"/>
                </a:solidFill>
                <a:latin typeface="Times New Roman" panose="02020603050405020304" pitchFamily="18" charset="0"/>
                <a:cs typeface="Times New Roman" panose="02020603050405020304" pitchFamily="18" charset="0"/>
              </a:rPr>
              <a:t>AIM</a:t>
            </a:r>
            <a:r>
              <a:rPr lang="en-US" sz="2000" b="1" dirty="0">
                <a:solidFill>
                  <a:schemeClr val="bg1"/>
                </a:solidFill>
                <a:latin typeface="Times New Roman" panose="02020603050405020304" pitchFamily="18" charset="0"/>
                <a:cs typeface="Times New Roman" panose="02020603050405020304" pitchFamily="18" charset="0"/>
              </a:rPr>
              <a:t> </a:t>
            </a:r>
            <a:r>
              <a:rPr lang="en-IN" altLang="en-US" sz="2000" b="1" dirty="0">
                <a:solidFill>
                  <a:schemeClr val="bg1"/>
                </a:solidFill>
                <a:latin typeface="Times New Roman" panose="02020603050405020304" pitchFamily="18" charset="0"/>
                <a:cs typeface="Times New Roman" panose="02020603050405020304" pitchFamily="18" charset="0"/>
              </a:rPr>
              <a:t>OF</a:t>
            </a:r>
            <a:r>
              <a:rPr lang="en-US" sz="2000" b="1" dirty="0">
                <a:solidFill>
                  <a:schemeClr val="bg1"/>
                </a:solidFill>
                <a:latin typeface="Times New Roman" panose="02020603050405020304" pitchFamily="18" charset="0"/>
                <a:cs typeface="Times New Roman" panose="02020603050405020304" pitchFamily="18" charset="0"/>
              </a:rPr>
              <a:t> </a:t>
            </a:r>
            <a:r>
              <a:rPr lang="en-IN" altLang="en-US" sz="2000" b="1" dirty="0">
                <a:solidFill>
                  <a:schemeClr val="bg1"/>
                </a:solidFill>
                <a:latin typeface="Times New Roman" panose="02020603050405020304" pitchFamily="18" charset="0"/>
                <a:cs typeface="Times New Roman" panose="02020603050405020304" pitchFamily="18" charset="0"/>
              </a:rPr>
              <a:t>THE</a:t>
            </a:r>
            <a:r>
              <a:rPr lang="en-US" sz="2000" b="1" dirty="0">
                <a:solidFill>
                  <a:schemeClr val="bg1"/>
                </a:solidFill>
                <a:latin typeface="Times New Roman" panose="02020603050405020304" pitchFamily="18" charset="0"/>
                <a:cs typeface="Times New Roman" panose="02020603050405020304" pitchFamily="18" charset="0"/>
              </a:rPr>
              <a:t> P</a:t>
            </a:r>
            <a:r>
              <a:rPr lang="en-IN" altLang="en-US" sz="2000" b="1" dirty="0">
                <a:solidFill>
                  <a:schemeClr val="bg1"/>
                </a:solidFill>
                <a:latin typeface="Times New Roman" panose="02020603050405020304" pitchFamily="18" charset="0"/>
                <a:cs typeface="Times New Roman" panose="02020603050405020304" pitchFamily="18" charset="0"/>
              </a:rPr>
              <a:t>ROJECT</a:t>
            </a:r>
          </a:p>
        </p:txBody>
      </p:sp>
      <p:sp>
        <p:nvSpPr>
          <p:cNvPr id="14" name="Content Placeholder 13"/>
          <p:cNvSpPr>
            <a:spLocks noGrp="1"/>
          </p:cNvSpPr>
          <p:nvPr>
            <p:ph idx="1"/>
          </p:nvPr>
        </p:nvSpPr>
        <p:spPr>
          <a:xfrm>
            <a:off x="459280" y="1156119"/>
            <a:ext cx="8229600" cy="3394472"/>
          </a:xfrm>
        </p:spPr>
        <p:txBody>
          <a:bodyPr>
            <a:normAutofit/>
          </a:bodyPr>
          <a:lstStyle/>
          <a:p>
            <a:pPr algn="just">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Build an automated fraud detection system for UPI transactions.</a:t>
            </a:r>
          </a:p>
          <a:p>
            <a:pPr algn="just">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Use machine learning algorithms to detect fraudulent transactions based on transaction history, user behavior, and other relevant features.</a:t>
            </a:r>
          </a:p>
          <a:p>
            <a:pPr algn="just">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Achieve a high degree of accuracy while minimizing false positives and false negatives in fraud detection.</a:t>
            </a:r>
          </a:p>
          <a:p>
            <a:pPr algn="just">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Design a system that can operate in real-time, providing quick alerts for suspected fraudulent activities.</a:t>
            </a:r>
          </a:p>
          <a:p>
            <a:pPr algn="just">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Enhance user trust in UPI-based transactions by improving security measures through proactive fraud detection</a:t>
            </a:r>
            <a:r>
              <a:rPr lang="en-US" sz="1200"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DFDE734-9CBF-478D-BDBB-8F011AC13C7F}" type="datetime1">
              <a:rPr lang="en-IN" smtClean="0"/>
              <a:pPr/>
              <a:t>26-12-2024</a:t>
            </a:fld>
            <a:endParaRPr lang="en-IN" dirty="0"/>
          </a:p>
        </p:txBody>
      </p:sp>
      <p:sp>
        <p:nvSpPr>
          <p:cNvPr id="5" name="Slide Number Placeholder 4"/>
          <p:cNvSpPr>
            <a:spLocks noGrp="1"/>
          </p:cNvSpPr>
          <p:nvPr>
            <p:ph type="sldNum" sz="quarter" idx="12"/>
          </p:nvPr>
        </p:nvSpPr>
        <p:spPr/>
        <p:txBody>
          <a:bodyPr/>
          <a:lstStyle/>
          <a:p>
            <a:fld id="{80999B1E-9774-4338-A494-7EE81CDA6832}" type="slidenum">
              <a:rPr lang="en-IN" smtClean="0"/>
              <a:pPr/>
              <a:t>3</a:t>
            </a:fld>
            <a:endParaRPr lang="en-IN" dirty="0"/>
          </a:p>
        </p:txBody>
      </p:sp>
      <p:pic>
        <p:nvPicPr>
          <p:cNvPr id="3" name="Picture 2">
            <a:extLst>
              <a:ext uri="{FF2B5EF4-FFF2-40B4-BE49-F238E27FC236}">
                <a16:creationId xmlns:a16="http://schemas.microsoft.com/office/drawing/2014/main" id="{A88ADD1C-1745-B9A5-1451-3AABD906D1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9" name="Rectangle 3"/>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3638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49188" y="9132"/>
            <a:ext cx="8229600" cy="857250"/>
          </a:xfrm>
        </p:spPr>
        <p:txBody>
          <a:bodyPr>
            <a:noAutofit/>
          </a:bodyPr>
          <a:lstStyle/>
          <a:p>
            <a:r>
              <a:rPr lang="en-US" sz="2000" b="1" dirty="0">
                <a:solidFill>
                  <a:schemeClr val="bg1"/>
                </a:solidFill>
                <a:latin typeface="Times New Roman" panose="02020603050405020304" pitchFamily="18" charset="0"/>
                <a:cs typeface="Times New Roman" panose="02020603050405020304" pitchFamily="18" charset="0"/>
              </a:rPr>
              <a:t>O</a:t>
            </a:r>
            <a:r>
              <a:rPr lang="en-IN" altLang="en-US" sz="2000" b="1" dirty="0">
                <a:solidFill>
                  <a:schemeClr val="bg1"/>
                </a:solidFill>
                <a:latin typeface="Times New Roman" panose="02020603050405020304" pitchFamily="18" charset="0"/>
                <a:cs typeface="Times New Roman" panose="02020603050405020304" pitchFamily="18" charset="0"/>
              </a:rPr>
              <a:t>BJECTIVE OF</a:t>
            </a:r>
            <a:r>
              <a:rPr lang="en-US" sz="2000" b="1" dirty="0">
                <a:solidFill>
                  <a:schemeClr val="bg1"/>
                </a:solidFill>
                <a:latin typeface="Times New Roman" panose="02020603050405020304" pitchFamily="18" charset="0"/>
                <a:cs typeface="Times New Roman" panose="02020603050405020304" pitchFamily="18" charset="0"/>
              </a:rPr>
              <a:t> </a:t>
            </a:r>
            <a:r>
              <a:rPr lang="en-IN" altLang="en-US" sz="2000" b="1" dirty="0">
                <a:solidFill>
                  <a:schemeClr val="bg1"/>
                </a:solidFill>
                <a:latin typeface="Times New Roman" panose="02020603050405020304" pitchFamily="18" charset="0"/>
                <a:cs typeface="Times New Roman" panose="02020603050405020304" pitchFamily="18" charset="0"/>
              </a:rPr>
              <a:t>THE</a:t>
            </a:r>
            <a:r>
              <a:rPr lang="en-US" sz="2000" b="1" dirty="0">
                <a:solidFill>
                  <a:schemeClr val="bg1"/>
                </a:solidFill>
                <a:latin typeface="Times New Roman" panose="02020603050405020304" pitchFamily="18" charset="0"/>
                <a:cs typeface="Times New Roman" panose="02020603050405020304" pitchFamily="18" charset="0"/>
              </a:rPr>
              <a:t> P</a:t>
            </a:r>
            <a:r>
              <a:rPr lang="en-IN" altLang="en-US" sz="2000" b="1" dirty="0">
                <a:solidFill>
                  <a:schemeClr val="bg1"/>
                </a:solidFill>
                <a:latin typeface="Times New Roman" panose="02020603050405020304" pitchFamily="18" charset="0"/>
                <a:cs typeface="Times New Roman" panose="02020603050405020304" pitchFamily="18" charset="0"/>
              </a:rPr>
              <a:t>ROJECT</a:t>
            </a:r>
          </a:p>
        </p:txBody>
      </p:sp>
      <p:sp>
        <p:nvSpPr>
          <p:cNvPr id="5" name="Slide Number Placeholder 4"/>
          <p:cNvSpPr>
            <a:spLocks noGrp="1"/>
          </p:cNvSpPr>
          <p:nvPr>
            <p:ph type="sldNum" sz="quarter" idx="12"/>
          </p:nvPr>
        </p:nvSpPr>
        <p:spPr/>
        <p:txBody>
          <a:bodyPr/>
          <a:lstStyle/>
          <a:p>
            <a:fld id="{80999B1E-9774-4338-A494-7EE81CDA6832}" type="slidenum">
              <a:rPr lang="en-IN" smtClean="0"/>
              <a:pPr/>
              <a:t>4</a:t>
            </a:fld>
            <a:endParaRPr lang="en-IN" dirty="0"/>
          </a:p>
        </p:txBody>
      </p:sp>
      <p:sp>
        <p:nvSpPr>
          <p:cNvPr id="9" name="Rectangle 8"/>
          <p:cNvSpPr/>
          <p:nvPr/>
        </p:nvSpPr>
        <p:spPr>
          <a:xfrm>
            <a:off x="457200" y="1300622"/>
            <a:ext cx="8121588" cy="147732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171450" indent="-171450">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The objective of this project is to develop an effective machine learning-based system that can automatically detect and flag fraudulent transactions within the Unified Payments Interface (UPI) ecosystem. By analyzing user transaction patterns and behaviors in real-time, the system aims to differentiate between legitimate and fraudulent transactions, providing a robust solution to minimize financial losses and secure digital payments.</a:t>
            </a:r>
          </a:p>
          <a:p>
            <a:pPr marL="285750" marR="0" indent="-285750" algn="just">
              <a:lnSpc>
                <a:spcPct val="150000"/>
              </a:lnSpc>
              <a:spcBef>
                <a:spcPts val="0"/>
              </a:spcBef>
              <a:spcAft>
                <a:spcPts val="800"/>
              </a:spcAft>
              <a:buFont typeface="Wingdings" pitchFamily="2" charset="2"/>
              <a:buChar char="v"/>
            </a:pPr>
            <a:endParaRPr lang="en-IN" sz="1200" dirty="0">
              <a:solidFill>
                <a:schemeClr val="tx1"/>
              </a:solidFill>
              <a:effectLst/>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20F01C7-7035-48E6-88FF-2726E45CD5ED}" type="datetime1">
              <a:rPr lang="en-IN" smtClean="0"/>
              <a:pPr/>
              <a:t>26-12-2024</a:t>
            </a:fld>
            <a:endParaRPr lang="en-IN" dirty="0"/>
          </a:p>
        </p:txBody>
      </p:sp>
      <p:pic>
        <p:nvPicPr>
          <p:cNvPr id="4" name="Picture 3">
            <a:extLst>
              <a:ext uri="{FF2B5EF4-FFF2-40B4-BE49-F238E27FC236}">
                <a16:creationId xmlns:a16="http://schemas.microsoft.com/office/drawing/2014/main" id="{817EFF99-078F-6A48-6DFD-123407811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067391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CF297D-763D-7D55-CA20-1DD54FE255F1}"/>
              </a:ext>
            </a:extLst>
          </p:cNvPr>
          <p:cNvSpPr>
            <a:spLocks noGrp="1"/>
          </p:cNvSpPr>
          <p:nvPr>
            <p:ph type="dt" sz="half" idx="10"/>
          </p:nvPr>
        </p:nvSpPr>
        <p:spPr/>
        <p:txBody>
          <a:bodyPr/>
          <a:lstStyle/>
          <a:p>
            <a:fld id="{43FD5E6F-4E07-4AB6-BBE1-E8E61011B524}" type="datetime1">
              <a:rPr lang="en-IN" smtClean="0"/>
              <a:pPr/>
              <a:t>26-12-2024</a:t>
            </a:fld>
            <a:endParaRPr lang="en-IN" dirty="0"/>
          </a:p>
        </p:txBody>
      </p:sp>
      <p:sp>
        <p:nvSpPr>
          <p:cNvPr id="3" name="Slide Number Placeholder 2">
            <a:extLst>
              <a:ext uri="{FF2B5EF4-FFF2-40B4-BE49-F238E27FC236}">
                <a16:creationId xmlns:a16="http://schemas.microsoft.com/office/drawing/2014/main" id="{5605335C-5A9A-4DE8-66D6-4D90BE3BAAF2}"/>
              </a:ext>
            </a:extLst>
          </p:cNvPr>
          <p:cNvSpPr>
            <a:spLocks noGrp="1"/>
          </p:cNvSpPr>
          <p:nvPr>
            <p:ph type="sldNum" sz="quarter" idx="12"/>
          </p:nvPr>
        </p:nvSpPr>
        <p:spPr/>
        <p:txBody>
          <a:bodyPr/>
          <a:lstStyle/>
          <a:p>
            <a:fld id="{80999B1E-9774-4338-A494-7EE81CDA6832}" type="slidenum">
              <a:rPr lang="en-IN" smtClean="0"/>
              <a:pPr/>
              <a:t>5</a:t>
            </a:fld>
            <a:endParaRPr lang="en-IN" dirty="0"/>
          </a:p>
        </p:txBody>
      </p:sp>
      <p:sp>
        <p:nvSpPr>
          <p:cNvPr id="4" name="TextBox 6">
            <a:extLst>
              <a:ext uri="{FF2B5EF4-FFF2-40B4-BE49-F238E27FC236}">
                <a16:creationId xmlns:a16="http://schemas.microsoft.com/office/drawing/2014/main" id="{42E06846-7BCB-BF92-F731-8141E60C44EA}"/>
              </a:ext>
            </a:extLst>
          </p:cNvPr>
          <p:cNvSpPr txBox="1"/>
          <p:nvPr/>
        </p:nvSpPr>
        <p:spPr>
          <a:xfrm>
            <a:off x="0" y="0"/>
            <a:ext cx="913638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pic>
        <p:nvPicPr>
          <p:cNvPr id="5" name="Picture 4">
            <a:extLst>
              <a:ext uri="{FF2B5EF4-FFF2-40B4-BE49-F238E27FC236}">
                <a16:creationId xmlns:a16="http://schemas.microsoft.com/office/drawing/2014/main" id="{4E5CAAF5-509D-91FB-BCBA-C54889DCE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7" name="TextBox 6">
            <a:extLst>
              <a:ext uri="{FF2B5EF4-FFF2-40B4-BE49-F238E27FC236}">
                <a16:creationId xmlns:a16="http://schemas.microsoft.com/office/drawing/2014/main" id="{3145851B-29F1-F8E6-B9E6-C7FCF8E380A1}"/>
              </a:ext>
            </a:extLst>
          </p:cNvPr>
          <p:cNvSpPr txBox="1"/>
          <p:nvPr/>
        </p:nvSpPr>
        <p:spPr>
          <a:xfrm>
            <a:off x="2590800" y="223086"/>
            <a:ext cx="4078987" cy="400110"/>
          </a:xfrm>
          <a:prstGeom prst="rect">
            <a:avLst/>
          </a:prstGeom>
          <a:noFill/>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PROBLEM STATEMENT</a:t>
            </a:r>
            <a:endParaRPr lang="en-IN" sz="2000" dirty="0"/>
          </a:p>
        </p:txBody>
      </p:sp>
      <p:sp>
        <p:nvSpPr>
          <p:cNvPr id="8" name="TextBox 7">
            <a:extLst>
              <a:ext uri="{FF2B5EF4-FFF2-40B4-BE49-F238E27FC236}">
                <a16:creationId xmlns:a16="http://schemas.microsoft.com/office/drawing/2014/main" id="{5BE100DE-1B3D-D50F-82F6-7CFF6B344C50}"/>
              </a:ext>
            </a:extLst>
          </p:cNvPr>
          <p:cNvSpPr txBox="1"/>
          <p:nvPr/>
        </p:nvSpPr>
        <p:spPr>
          <a:xfrm>
            <a:off x="323528" y="987574"/>
            <a:ext cx="7560840" cy="1938992"/>
          </a:xfrm>
          <a:prstGeom prst="rect">
            <a:avLst/>
          </a:prstGeom>
          <a:noFill/>
        </p:spPr>
        <p:txBody>
          <a:bodyPr wrap="square" rtlCol="0">
            <a:spAutoFit/>
          </a:bodyPr>
          <a:lstStyle/>
          <a:p>
            <a:pPr marL="171450" indent="-171450" algn="just">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The rise of digital payments via UPI has led to an increase in fraudulent transactions, including unauthorized transfers, phishing, and account hacking. </a:t>
            </a:r>
            <a:endParaRPr lang="en-US" sz="1200" dirty="0" smtClean="0">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v"/>
            </a:pPr>
            <a:r>
              <a:rPr lang="en-US" sz="1200" dirty="0" smtClean="0">
                <a:latin typeface="Times New Roman" panose="02020603050405020304" pitchFamily="18" charset="0"/>
                <a:cs typeface="Times New Roman" panose="02020603050405020304" pitchFamily="18" charset="0"/>
              </a:rPr>
              <a:t>Traditional </a:t>
            </a:r>
            <a:r>
              <a:rPr lang="en-US" sz="1200" dirty="0">
                <a:latin typeface="Times New Roman" panose="02020603050405020304" pitchFamily="18" charset="0"/>
                <a:cs typeface="Times New Roman" panose="02020603050405020304" pitchFamily="18" charset="0"/>
              </a:rPr>
              <a:t>methods for fraud detection are not sufficiently dynamic to handle the volume and complexity of transactions in real-time. </a:t>
            </a:r>
          </a:p>
          <a:p>
            <a:pPr marL="171450" indent="-171450" algn="just">
              <a:lnSpc>
                <a:spcPct val="150000"/>
              </a:lnSpc>
              <a:buFont typeface="Wingdings" panose="05000000000000000000" pitchFamily="2" charset="2"/>
              <a:buChar char="v"/>
            </a:pP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there is a need to develop an advanced fraud detection system using machine learning techniques to ensure the security and trustworthiness of UPI transactions.</a:t>
            </a:r>
          </a:p>
          <a:p>
            <a:pPr marL="171450" indent="-171450" algn="l">
              <a:buFont typeface="Wingdings" panose="05000000000000000000" pitchFamily="2" charset="2"/>
              <a:buChar char="v"/>
            </a:pPr>
            <a:endParaRPr lang="en-US" sz="1200" dirty="0">
              <a:solidFill>
                <a:srgbClr val="0D0D0D"/>
              </a:solidFill>
              <a:highlight>
                <a:srgbClr val="FFFFFF"/>
              </a:highlight>
              <a:latin typeface="Söhne"/>
            </a:endParaRPr>
          </a:p>
        </p:txBody>
      </p:sp>
    </p:spTree>
    <p:extLst>
      <p:ext uri="{BB962C8B-B14F-4D97-AF65-F5344CB8AC3E}">
        <p14:creationId xmlns:p14="http://schemas.microsoft.com/office/powerpoint/2010/main" val="1764362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30262"/>
            <a:ext cx="914400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29600"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ABSTRACT</a:t>
            </a:r>
          </a:p>
        </p:txBody>
      </p:sp>
      <p:sp>
        <p:nvSpPr>
          <p:cNvPr id="5" name="Slide Number Placeholder 4"/>
          <p:cNvSpPr>
            <a:spLocks noGrp="1"/>
          </p:cNvSpPr>
          <p:nvPr>
            <p:ph type="sldNum" sz="quarter" idx="12"/>
          </p:nvPr>
        </p:nvSpPr>
        <p:spPr>
          <a:xfrm>
            <a:off x="6588224" y="4767264"/>
            <a:ext cx="2133600" cy="273844"/>
          </a:xfrm>
        </p:spPr>
        <p:txBody>
          <a:bodyPr/>
          <a:lstStyle/>
          <a:p>
            <a:fld id="{80999B1E-9774-4338-A494-7EE81CDA6832}" type="slidenum">
              <a:rPr lang="en-IN" smtClean="0"/>
              <a:pPr/>
              <a:t>6</a:t>
            </a:fld>
            <a:endParaRPr lang="en-IN" dirty="0"/>
          </a:p>
        </p:txBody>
      </p:sp>
      <p:sp>
        <p:nvSpPr>
          <p:cNvPr id="3" name="Date Placeholder 2"/>
          <p:cNvSpPr>
            <a:spLocks noGrp="1"/>
          </p:cNvSpPr>
          <p:nvPr>
            <p:ph type="dt" sz="half" idx="10"/>
          </p:nvPr>
        </p:nvSpPr>
        <p:spPr>
          <a:xfrm>
            <a:off x="422176" y="4838303"/>
            <a:ext cx="2133600" cy="273844"/>
          </a:xfrm>
        </p:spPr>
        <p:txBody>
          <a:bodyPr/>
          <a:lstStyle/>
          <a:p>
            <a:fld id="{E257AAB6-FE54-4DCA-BAD4-54A179644287}" type="datetime1">
              <a:rPr lang="en-IN" smtClean="0"/>
              <a:pPr/>
              <a:t>26-12-2024</a:t>
            </a:fld>
            <a:endParaRPr lang="en-IN" dirty="0"/>
          </a:p>
        </p:txBody>
      </p:sp>
      <p:sp>
        <p:nvSpPr>
          <p:cNvPr id="4" name="TextBox 3">
            <a:extLst>
              <a:ext uri="{FF2B5EF4-FFF2-40B4-BE49-F238E27FC236}">
                <a16:creationId xmlns:a16="http://schemas.microsoft.com/office/drawing/2014/main" id="{65D40BCD-1A2B-C900-2775-C6817800593E}"/>
              </a:ext>
            </a:extLst>
          </p:cNvPr>
          <p:cNvSpPr txBox="1"/>
          <p:nvPr/>
        </p:nvSpPr>
        <p:spPr>
          <a:xfrm>
            <a:off x="127192" y="1173182"/>
            <a:ext cx="9007856" cy="31393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crease in UPI usage for online payments</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cases of fraud associated with it are also rising.</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Few steps involving UPI transaction process using a Hidden Markov Model (HMM)</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 An HMM is initially trained for a  cardholder.</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If a UPI transaction is not accepted by the trained HMM. It is considered to be fraudulent.</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People can use UPIs for online transactions as it provides an efficient and easy-to-use facility.</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With the increase in usage of UPIs, the capacity of UPI misuse has also enhanced.</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 UPI frauds cause significant financial losses for both UPI holders and financial companies.</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 In this Project, the main aim is to detect such frauds, including the accessibility of public data, high-class imbalance data, the changes in fraud nature, and high rates of false alarm.</a:t>
            </a:r>
          </a:p>
          <a:p>
            <a:pPr marL="171450" indent="-171450" fontAlgn="base">
              <a:lnSpc>
                <a:spcPct val="150000"/>
              </a:lnSpc>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The main focus has been to apply the recent development of Machine Learning algorithms for this purpose</a:t>
            </a:r>
            <a:r>
              <a:rPr lang="en-US" sz="1200"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4CDDB30-6B09-6F42-14EF-9DDF67166C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30262"/>
            <a:ext cx="914400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29600"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INTRODUCTION</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6588224" y="4767264"/>
            <a:ext cx="2133600" cy="273844"/>
          </a:xfrm>
        </p:spPr>
        <p:txBody>
          <a:bodyPr/>
          <a:lstStyle/>
          <a:p>
            <a:fld id="{80999B1E-9774-4338-A494-7EE81CDA6832}" type="slidenum">
              <a:rPr lang="en-IN" smtClean="0"/>
              <a:pPr/>
              <a:t>7</a:t>
            </a:fld>
            <a:endParaRPr lang="en-IN" dirty="0"/>
          </a:p>
        </p:txBody>
      </p:sp>
      <p:sp>
        <p:nvSpPr>
          <p:cNvPr id="3" name="Date Placeholder 2"/>
          <p:cNvSpPr>
            <a:spLocks noGrp="1"/>
          </p:cNvSpPr>
          <p:nvPr>
            <p:ph type="dt" sz="half" idx="10"/>
          </p:nvPr>
        </p:nvSpPr>
        <p:spPr>
          <a:xfrm>
            <a:off x="422176" y="4838303"/>
            <a:ext cx="2133600" cy="273844"/>
          </a:xfrm>
        </p:spPr>
        <p:txBody>
          <a:bodyPr/>
          <a:lstStyle/>
          <a:p>
            <a:fld id="{E257AAB6-FE54-4DCA-BAD4-54A179644287}" type="datetime1">
              <a:rPr lang="en-IN" smtClean="0"/>
              <a:pPr/>
              <a:t>26-12-2024</a:t>
            </a:fld>
            <a:endParaRPr lang="en-IN" dirty="0"/>
          </a:p>
        </p:txBody>
      </p:sp>
      <p:sp>
        <p:nvSpPr>
          <p:cNvPr id="4" name="TextBox 3">
            <a:extLst>
              <a:ext uri="{FF2B5EF4-FFF2-40B4-BE49-F238E27FC236}">
                <a16:creationId xmlns:a16="http://schemas.microsoft.com/office/drawing/2014/main" id="{65D40BCD-1A2B-C900-2775-C6817800593E}"/>
              </a:ext>
            </a:extLst>
          </p:cNvPr>
          <p:cNvSpPr txBox="1"/>
          <p:nvPr/>
        </p:nvSpPr>
        <p:spPr>
          <a:xfrm>
            <a:off x="179513" y="1464503"/>
            <a:ext cx="8803098" cy="230832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283464" indent="-283464" algn="just">
              <a:lnSpc>
                <a:spcPct val="150000"/>
              </a:lnSpc>
              <a:buSzPts val="1600"/>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Unified Payments Interface (UPI) is one of the most widely adopted digital payment systems in India, allowing users to send and receive money instantly, 24/7. </a:t>
            </a:r>
            <a:endParaRPr lang="en-US" sz="1200" dirty="0" smtClean="0">
              <a:latin typeface="Times New Roman" panose="02020603050405020304" pitchFamily="18" charset="0"/>
              <a:cs typeface="Times New Roman" panose="02020603050405020304" pitchFamily="18" charset="0"/>
            </a:endParaRPr>
          </a:p>
          <a:p>
            <a:pPr marL="283464" indent="-283464" algn="just">
              <a:lnSpc>
                <a:spcPct val="150000"/>
              </a:lnSpc>
              <a:buSzPts val="1600"/>
              <a:buFont typeface="Wingdings" panose="05000000000000000000" pitchFamily="2" charset="2"/>
              <a:buChar char="v"/>
            </a:pPr>
            <a:r>
              <a:rPr lang="en-US" sz="1200" dirty="0" smtClean="0">
                <a:latin typeface="Times New Roman" panose="02020603050405020304" pitchFamily="18" charset="0"/>
                <a:cs typeface="Times New Roman" panose="02020603050405020304" pitchFamily="18" charset="0"/>
              </a:rPr>
              <a:t>UPI </a:t>
            </a:r>
            <a:r>
              <a:rPr lang="en-US" sz="1200" dirty="0">
                <a:latin typeface="Times New Roman" panose="02020603050405020304" pitchFamily="18" charset="0"/>
                <a:cs typeface="Times New Roman" panose="02020603050405020304" pitchFamily="18" charset="0"/>
              </a:rPr>
              <a:t>provides a seamless and user-friendly experience, making it the preferred method of payment for many. However, with the growing use of UPI, there has been an increase in fraudulent activities such as phishing attacks, account takeovers, and fake </a:t>
            </a:r>
            <a:r>
              <a:rPr lang="en-US" sz="1200" dirty="0" smtClean="0">
                <a:latin typeface="Times New Roman" panose="02020603050405020304" pitchFamily="18" charset="0"/>
                <a:cs typeface="Times New Roman" panose="02020603050405020304" pitchFamily="18" charset="0"/>
              </a:rPr>
              <a:t>transactions</a:t>
            </a:r>
          </a:p>
          <a:p>
            <a:pPr marL="283464" indent="-283464" algn="just">
              <a:lnSpc>
                <a:spcPct val="150000"/>
              </a:lnSpc>
              <a:buSzPts val="1600"/>
              <a:buFont typeface="Wingdings" panose="05000000000000000000" pitchFamily="2" charset="2"/>
              <a:buChar char="v"/>
            </a:pPr>
            <a:r>
              <a:rPr lang="en-US" sz="1200" dirty="0" smtClean="0">
                <a:latin typeface="Times New Roman" panose="02020603050405020304" pitchFamily="18" charset="0"/>
                <a:cs typeface="Times New Roman" panose="02020603050405020304" pitchFamily="18" charset="0"/>
              </a:rPr>
              <a:t>Detecting </a:t>
            </a:r>
            <a:r>
              <a:rPr lang="en-US" sz="1200" dirty="0">
                <a:latin typeface="Times New Roman" panose="02020603050405020304" pitchFamily="18" charset="0"/>
                <a:cs typeface="Times New Roman" panose="02020603050405020304" pitchFamily="18" charset="0"/>
              </a:rPr>
              <a:t>fraud in real-time is crucial to prevent financial losses and protect users from potential scams</a:t>
            </a:r>
            <a:r>
              <a:rPr lang="en-US" sz="1200" dirty="0" smtClean="0">
                <a:latin typeface="Times New Roman" panose="02020603050405020304" pitchFamily="18" charset="0"/>
                <a:cs typeface="Times New Roman" panose="02020603050405020304" pitchFamily="18" charset="0"/>
              </a:rPr>
              <a:t>.</a:t>
            </a:r>
          </a:p>
          <a:p>
            <a:pPr marL="283464" indent="-283464" algn="just">
              <a:lnSpc>
                <a:spcPct val="150000"/>
              </a:lnSpc>
              <a:buSzPts val="1600"/>
              <a:buFont typeface="Wingdings" panose="05000000000000000000" pitchFamily="2" charset="2"/>
              <a:buChar char="v"/>
            </a:pPr>
            <a:r>
              <a:rPr lang="en-US" sz="1200" dirty="0">
                <a:latin typeface="Times New Roman" panose="02020603050405020304" pitchFamily="18" charset="0"/>
                <a:cs typeface="Times New Roman" panose="02020603050405020304" pitchFamily="18" charset="0"/>
              </a:rPr>
              <a:t>Traditional methods of fraud detection, such as rule-based systems, often fall short due to their inability to adapt to evolving fraud tactics. Therefore, there is a growing need for automated, data-driven systems that can analyze vast amounts of transactional data to identify fraudulent behavior patterns.</a:t>
            </a:r>
            <a:endParaRPr lang="en-IN" sz="1200" dirty="0">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6D7368E-7827-3FDB-7E37-0BD20200A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381204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p:cNvSpPr txBox="1"/>
          <p:nvPr/>
        </p:nvSpPr>
        <p:spPr>
          <a:xfrm>
            <a:off x="0" y="0"/>
            <a:ext cx="9136380" cy="830997"/>
          </a:xfrm>
          <a:prstGeom prst="rect">
            <a:avLst/>
          </a:prstGeom>
          <a:gradFill>
            <a:gsLst>
              <a:gs pos="0">
                <a:srgbClr val="012D86"/>
              </a:gs>
              <a:gs pos="100000">
                <a:srgbClr val="0E2557"/>
              </a:gs>
            </a:gsLst>
            <a:lin ang="5400000" scaled="0"/>
          </a:gradFill>
        </p:spPr>
        <p:txBody>
          <a:bodyPr wrap="square" rtlCol="0">
            <a:spAutoFit/>
          </a:bodyPr>
          <a:lstStyle/>
          <a:p>
            <a:pPr algn="ct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6" name="Title 1"/>
          <p:cNvSpPr txBox="1">
            <a:spLocks/>
          </p:cNvSpPr>
          <p:nvPr/>
        </p:nvSpPr>
        <p:spPr>
          <a:xfrm>
            <a:off x="330835" y="168275"/>
            <a:ext cx="8229600" cy="63246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000" b="1" dirty="0">
                <a:solidFill>
                  <a:schemeClr val="bg1"/>
                </a:solidFill>
                <a:latin typeface="Times New Roman" panose="02020603050405020304" pitchFamily="18" charset="0"/>
                <a:ea typeface="+mj-ea"/>
                <a:cs typeface="Times New Roman" panose="02020603050405020304" pitchFamily="18" charset="0"/>
              </a:rPr>
              <a:t>LITERATURE SURVEY</a:t>
            </a:r>
            <a:endParaRPr kumimoji="0" lang="en-US" sz="20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13" name="Content Placeholder 3">
            <a:extLst>
              <a:ext uri="{FF2B5EF4-FFF2-40B4-BE49-F238E27FC236}">
                <a16:creationId xmlns:a16="http://schemas.microsoft.com/office/drawing/2014/main" id="{D589322D-607C-554C-73CE-B85D20EA0CB2}"/>
              </a:ext>
            </a:extLst>
          </p:cNvPr>
          <p:cNvGraphicFramePr>
            <a:graphicFrameLocks noGrp="1"/>
          </p:cNvGraphicFramePr>
          <p:nvPr>
            <p:ph idx="1"/>
            <p:extLst>
              <p:ext uri="{D42A27DB-BD31-4B8C-83A1-F6EECF244321}">
                <p14:modId xmlns:p14="http://schemas.microsoft.com/office/powerpoint/2010/main" val="3524995307"/>
              </p:ext>
            </p:extLst>
          </p:nvPr>
        </p:nvGraphicFramePr>
        <p:xfrm>
          <a:off x="330835" y="969010"/>
          <a:ext cx="8557895" cy="4065546"/>
        </p:xfrm>
        <a:graphic>
          <a:graphicData uri="http://schemas.openxmlformats.org/drawingml/2006/table">
            <a:tbl>
              <a:tblPr firstRow="1" bandRow="1">
                <a:tableStyleId>{5C22544A-7EE6-4342-B048-85BDC9FD1C3A}</a:tableStyleId>
              </a:tblPr>
              <a:tblGrid>
                <a:gridCol w="1326282">
                  <a:extLst>
                    <a:ext uri="{9D8B030D-6E8A-4147-A177-3AD203B41FA5}">
                      <a16:colId xmlns:a16="http://schemas.microsoft.com/office/drawing/2014/main" val="20000"/>
                    </a:ext>
                  </a:extLst>
                </a:gridCol>
                <a:gridCol w="1607025">
                  <a:extLst>
                    <a:ext uri="{9D8B030D-6E8A-4147-A177-3AD203B41FA5}">
                      <a16:colId xmlns:a16="http://schemas.microsoft.com/office/drawing/2014/main" val="20001"/>
                    </a:ext>
                  </a:extLst>
                </a:gridCol>
                <a:gridCol w="1739906">
                  <a:extLst>
                    <a:ext uri="{9D8B030D-6E8A-4147-A177-3AD203B41FA5}">
                      <a16:colId xmlns:a16="http://schemas.microsoft.com/office/drawing/2014/main" val="20002"/>
                    </a:ext>
                  </a:extLst>
                </a:gridCol>
                <a:gridCol w="3884682">
                  <a:extLst>
                    <a:ext uri="{9D8B030D-6E8A-4147-A177-3AD203B41FA5}">
                      <a16:colId xmlns:a16="http://schemas.microsoft.com/office/drawing/2014/main" val="20003"/>
                    </a:ext>
                  </a:extLst>
                </a:gridCol>
              </a:tblGrid>
              <a:tr h="336972">
                <a:tc>
                  <a:txBody>
                    <a:bodyPr/>
                    <a:lstStyle/>
                    <a:p>
                      <a:pPr algn="l"/>
                      <a:r>
                        <a:rPr lang="en-IN" sz="1200" dirty="0">
                          <a:latin typeface="Times" panose="02020603050405020304" pitchFamily="18" charset="0"/>
                          <a:cs typeface="Times" panose="02020603050405020304" pitchFamily="18" charset="0"/>
                        </a:rPr>
                        <a:t>Year  </a:t>
                      </a:r>
                    </a:p>
                  </a:txBody>
                  <a:tcPr marL="68580" marR="68580" marT="34290" marB="34290"/>
                </a:tc>
                <a:tc>
                  <a:txBody>
                    <a:bodyPr/>
                    <a:lstStyle/>
                    <a:p>
                      <a:pPr algn="l"/>
                      <a:r>
                        <a:rPr lang="en-IN" sz="1200" dirty="0">
                          <a:latin typeface="Times" panose="02020603050405020304" pitchFamily="18" charset="0"/>
                          <a:cs typeface="Times" panose="02020603050405020304" pitchFamily="18" charset="0"/>
                        </a:rPr>
                        <a:t>Authors</a:t>
                      </a:r>
                    </a:p>
                  </a:txBody>
                  <a:tcPr marL="68580" marR="68580" marT="34290" marB="34290"/>
                </a:tc>
                <a:tc>
                  <a:txBody>
                    <a:bodyPr/>
                    <a:lstStyle/>
                    <a:p>
                      <a:pPr algn="l"/>
                      <a:r>
                        <a:rPr lang="en-IN" sz="1200" dirty="0">
                          <a:latin typeface="Times" panose="02020603050405020304" pitchFamily="18" charset="0"/>
                          <a:cs typeface="Times" panose="02020603050405020304" pitchFamily="18" charset="0"/>
                        </a:rPr>
                        <a:t>Title</a:t>
                      </a:r>
                    </a:p>
                  </a:txBody>
                  <a:tcPr marL="68580" marR="68580" marT="34290" marB="34290"/>
                </a:tc>
                <a:tc>
                  <a:txBody>
                    <a:bodyPr/>
                    <a:lstStyle/>
                    <a:p>
                      <a:pPr algn="l"/>
                      <a:r>
                        <a:rPr lang="en-IN" sz="1200" dirty="0">
                          <a:latin typeface="Times" panose="02020603050405020304" pitchFamily="18" charset="0"/>
                          <a:cs typeface="Times" panose="02020603050405020304" pitchFamily="18" charset="0"/>
                        </a:rPr>
                        <a:t>Methodology</a:t>
                      </a:r>
                    </a:p>
                  </a:txBody>
                  <a:tcPr marL="68580" marR="68580" marT="34290" marB="34290"/>
                </a:tc>
                <a:extLst>
                  <a:ext uri="{0D108BD9-81ED-4DB2-BD59-A6C34878D82A}">
                    <a16:rowId xmlns:a16="http://schemas.microsoft.com/office/drawing/2014/main" val="10000"/>
                  </a:ext>
                </a:extLst>
              </a:tr>
              <a:tr h="3728574">
                <a:tc>
                  <a:txBody>
                    <a:bodyPr/>
                    <a:lstStyle/>
                    <a:p>
                      <a:pPr algn="l"/>
                      <a:r>
                        <a:rPr lang="en-IN" sz="1200" dirty="0" smtClean="0">
                          <a:latin typeface="Times" panose="02020603050405020304" pitchFamily="18" charset="0"/>
                          <a:cs typeface="Times" panose="02020603050405020304" pitchFamily="18" charset="0"/>
                        </a:rPr>
                        <a:t>2023</a:t>
                      </a:r>
                      <a:endParaRPr lang="en-IN" sz="1200" dirty="0">
                        <a:latin typeface="Times" panose="02020603050405020304" pitchFamily="18" charset="0"/>
                        <a:cs typeface="Times" panose="02020603050405020304" pitchFamily="18" charset="0"/>
                      </a:endParaRPr>
                    </a:p>
                  </a:txBody>
                  <a:tcPr marL="68580" marR="68580" marT="34290" marB="34290"/>
                </a:tc>
                <a:tc>
                  <a:txBody>
                    <a:bodyPr/>
                    <a:lstStyle/>
                    <a:p>
                      <a:pPr algn="l"/>
                      <a:r>
                        <a:rPr lang="en-IN" sz="1200" dirty="0" err="1" smtClean="0">
                          <a:latin typeface="Times" panose="02020603050405020304" pitchFamily="18" charset="0"/>
                          <a:cs typeface="Times" panose="02020603050405020304" pitchFamily="18" charset="0"/>
                        </a:rPr>
                        <a:t>Kavitha</a:t>
                      </a:r>
                      <a:r>
                        <a:rPr lang="en-IN" sz="1200" baseline="0" dirty="0" smtClean="0">
                          <a:latin typeface="Times" panose="02020603050405020304" pitchFamily="18" charset="0"/>
                          <a:cs typeface="Times" panose="02020603050405020304" pitchFamily="18" charset="0"/>
                        </a:rPr>
                        <a:t> </a:t>
                      </a:r>
                      <a:endParaRPr lang="en-IN" sz="1200" dirty="0">
                        <a:latin typeface="Times" panose="02020603050405020304" pitchFamily="18" charset="0"/>
                        <a:cs typeface="Times" panose="02020603050405020304" pitchFamily="18" charset="0"/>
                      </a:endParaRPr>
                    </a:p>
                  </a:txBody>
                  <a:tcPr marL="68580" marR="68580" marT="34290" marB="34290"/>
                </a:tc>
                <a:tc>
                  <a:txBody>
                    <a:bodyPr/>
                    <a:lstStyle/>
                    <a:p>
                      <a:pPr algn="l"/>
                      <a:r>
                        <a:rPr lang="en-IN" sz="1200" dirty="0" smtClean="0">
                          <a:latin typeface="Times" panose="02020603050405020304" pitchFamily="18" charset="0"/>
                          <a:cs typeface="Times" panose="02020603050405020304" pitchFamily="18" charset="0"/>
                        </a:rPr>
                        <a:t>Fraud detection in UPI Transactions Using ML</a:t>
                      </a:r>
                      <a:endParaRPr lang="en-IN" sz="1200" dirty="0">
                        <a:latin typeface="Times" panose="02020603050405020304" pitchFamily="18" charset="0"/>
                        <a:cs typeface="Times" panose="02020603050405020304" pitchFamily="18" charset="0"/>
                      </a:endParaRPr>
                    </a:p>
                  </a:txBody>
                  <a:tcPr/>
                </a:tc>
                <a:tc>
                  <a:txBody>
                    <a:bodyPr/>
                    <a:lstStyle/>
                    <a:p>
                      <a:pPr marL="0" algn="just" defTabSz="914400" rtl="0" eaLnBrk="1" fontAlgn="t" latinLnBrk="0" hangingPunct="1">
                        <a:spcBef>
                          <a:spcPts val="0"/>
                        </a:spcBef>
                        <a:spcAft>
                          <a:spcPts val="0"/>
                        </a:spcAft>
                      </a:pPr>
                      <a:r>
                        <a:rPr lang="en-US" sz="1200" kern="1200" dirty="0" smtClean="0">
                          <a:solidFill>
                            <a:schemeClr val="dk1"/>
                          </a:solidFill>
                          <a:latin typeface="Times" panose="02020603050405020304" pitchFamily="18" charset="0"/>
                          <a:ea typeface="+mn-ea"/>
                          <a:cs typeface="Times" panose="02020603050405020304" pitchFamily="18" charset="0"/>
                        </a:rPr>
                        <a:t>Machine Learning in UPI Fraud Detection:</a:t>
                      </a:r>
                    </a:p>
                    <a:p>
                      <a:pPr marL="0" algn="just" defTabSz="914400" rtl="0" eaLnBrk="1" fontAlgn="t" latinLnBrk="0" hangingPunct="1">
                        <a:spcBef>
                          <a:spcPts val="0"/>
                        </a:spcBef>
                        <a:spcAft>
                          <a:spcPts val="0"/>
                        </a:spcAft>
                      </a:pPr>
                      <a:r>
                        <a:rPr lang="en-US" sz="1200" kern="1200" dirty="0" smtClean="0">
                          <a:solidFill>
                            <a:schemeClr val="dk1"/>
                          </a:solidFill>
                          <a:latin typeface="Times" panose="02020603050405020304" pitchFamily="18" charset="0"/>
                          <a:ea typeface="+mn-ea"/>
                          <a:cs typeface="Times" panose="02020603050405020304" pitchFamily="18" charset="0"/>
                        </a:rPr>
                        <a:t>Machine learning (ML) plays a critical role in detecting UPI fraud by building models that can:</a:t>
                      </a:r>
                    </a:p>
                    <a:p>
                      <a:pPr marL="0" algn="just" defTabSz="914400" rtl="0" eaLnBrk="1" fontAlgn="t" latinLnBrk="0" hangingPunct="1">
                        <a:spcBef>
                          <a:spcPts val="0"/>
                        </a:spcBef>
                        <a:spcAft>
                          <a:spcPts val="0"/>
                        </a:spcAft>
                      </a:pPr>
                      <a:r>
                        <a:rPr lang="en-US" sz="1200" kern="1200" dirty="0" smtClean="0">
                          <a:solidFill>
                            <a:schemeClr val="dk1"/>
                          </a:solidFill>
                          <a:latin typeface="Times" panose="02020603050405020304" pitchFamily="18" charset="0"/>
                          <a:ea typeface="+mn-ea"/>
                          <a:cs typeface="Times" panose="02020603050405020304" pitchFamily="18" charset="0"/>
                        </a:rPr>
                        <a:t>* Classify Transactions: ML models are trained to distinguish between fraudulent and legitimate transactions </a:t>
                      </a:r>
                    </a:p>
                    <a:p>
                      <a:pPr marL="0" algn="just" defTabSz="914400" rtl="0" eaLnBrk="1" fontAlgn="t" latinLnBrk="0" hangingPunct="1">
                        <a:spcBef>
                          <a:spcPts val="0"/>
                        </a:spcBef>
                        <a:spcAft>
                          <a:spcPts val="0"/>
                        </a:spcAft>
                      </a:pPr>
                      <a:r>
                        <a:rPr lang="en-US" sz="1200" kern="1200" dirty="0" smtClean="0">
                          <a:solidFill>
                            <a:schemeClr val="dk1"/>
                          </a:solidFill>
                          <a:latin typeface="Times" panose="02020603050405020304" pitchFamily="18" charset="0"/>
                          <a:ea typeface="+mn-ea"/>
                          <a:cs typeface="Times" panose="02020603050405020304" pitchFamily="18" charset="0"/>
                        </a:rPr>
                        <a:t>based on historical data.</a:t>
                      </a:r>
                    </a:p>
                    <a:p>
                      <a:pPr marL="0" algn="just" defTabSz="914400" rtl="0" eaLnBrk="1" fontAlgn="t" latinLnBrk="0" hangingPunct="1">
                        <a:spcBef>
                          <a:spcPts val="0"/>
                        </a:spcBef>
                        <a:spcAft>
                          <a:spcPts val="0"/>
                        </a:spcAft>
                      </a:pPr>
                      <a:r>
                        <a:rPr lang="en-US" sz="1200" kern="1200" dirty="0" smtClean="0">
                          <a:solidFill>
                            <a:schemeClr val="dk1"/>
                          </a:solidFill>
                          <a:latin typeface="Times" panose="02020603050405020304" pitchFamily="18" charset="0"/>
                          <a:ea typeface="+mn-ea"/>
                          <a:cs typeface="Times" panose="02020603050405020304" pitchFamily="18" charset="0"/>
                        </a:rPr>
                        <a:t>* Predict Fraud Patterns: Using supervised learning, these models learn from labeled data (fraudulent vs. non-</a:t>
                      </a:r>
                    </a:p>
                    <a:p>
                      <a:pPr marL="0" algn="just" defTabSz="914400" rtl="0" eaLnBrk="1" fontAlgn="t" latinLnBrk="0" hangingPunct="1">
                        <a:spcBef>
                          <a:spcPts val="0"/>
                        </a:spcBef>
                        <a:spcAft>
                          <a:spcPts val="0"/>
                        </a:spcAft>
                      </a:pPr>
                      <a:r>
                        <a:rPr lang="en-US" sz="1200" kern="1200" dirty="0" smtClean="0">
                          <a:solidFill>
                            <a:schemeClr val="dk1"/>
                          </a:solidFill>
                          <a:latin typeface="Times" panose="02020603050405020304" pitchFamily="18" charset="0"/>
                          <a:ea typeface="+mn-ea"/>
                          <a:cs typeface="Times" panose="02020603050405020304" pitchFamily="18" charset="0"/>
                        </a:rPr>
                        <a:t>fraudulent transactions) and predict which future transactions are likely fraudulent.</a:t>
                      </a:r>
                    </a:p>
                    <a:p>
                      <a:pPr marL="0" algn="just" defTabSz="914400" rtl="0" eaLnBrk="1" fontAlgn="t" latinLnBrk="0" hangingPunct="1">
                        <a:spcBef>
                          <a:spcPts val="0"/>
                        </a:spcBef>
                        <a:spcAft>
                          <a:spcPts val="0"/>
                        </a:spcAft>
                      </a:pPr>
                      <a:r>
                        <a:rPr lang="en-US" sz="1200" kern="1200" dirty="0" smtClean="0">
                          <a:solidFill>
                            <a:schemeClr val="dk1"/>
                          </a:solidFill>
                          <a:latin typeface="Times" panose="02020603050405020304" pitchFamily="18" charset="0"/>
                          <a:ea typeface="+mn-ea"/>
                          <a:cs typeface="Times" panose="02020603050405020304" pitchFamily="18" charset="0"/>
                        </a:rPr>
                        <a:t>Handle Imbalanced Data: Fraud detection datasets are usually imbalanced</a:t>
                      </a:r>
                      <a:endParaRPr lang="en-US" sz="1200" kern="1200" dirty="0">
                        <a:solidFill>
                          <a:schemeClr val="dk1"/>
                        </a:solidFill>
                        <a:latin typeface="Times" panose="02020603050405020304" pitchFamily="18" charset="0"/>
                        <a:ea typeface="+mn-ea"/>
                        <a:cs typeface="Times" panose="02020603050405020304" pitchFamily="18" charset="0"/>
                      </a:endParaRPr>
                    </a:p>
                  </a:txBody>
                  <a:tcP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47F6EFB9-A3F2-8FA7-3290-1F7B9F63BB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819974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09" y="-264540"/>
            <a:ext cx="7886700" cy="994172"/>
          </a:xfrm>
        </p:spPr>
        <p:txBody>
          <a:bodyPr/>
          <a:lstStyle/>
          <a:p>
            <a:r>
              <a:rPr lang="en-IN" dirty="0"/>
              <a:t>Literature survey</a:t>
            </a:r>
          </a:p>
        </p:txBody>
      </p:sp>
      <p:sp>
        <p:nvSpPr>
          <p:cNvPr id="5" name="TextBox 6"/>
          <p:cNvSpPr txBox="1"/>
          <p:nvPr/>
        </p:nvSpPr>
        <p:spPr>
          <a:xfrm>
            <a:off x="0" y="1"/>
            <a:ext cx="913638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6" name="Rectangle 5"/>
          <p:cNvSpPr/>
          <p:nvPr/>
        </p:nvSpPr>
        <p:spPr>
          <a:xfrm>
            <a:off x="2771800" y="267494"/>
            <a:ext cx="3533340" cy="400110"/>
          </a:xfrm>
          <a:prstGeom prst="rect">
            <a:avLst/>
          </a:prstGeom>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LITERATURE SURVEY</a:t>
            </a:r>
            <a:endParaRPr lang="en-US" sz="2000" dirty="0"/>
          </a:p>
        </p:txBody>
      </p:sp>
      <p:graphicFrame>
        <p:nvGraphicFramePr>
          <p:cNvPr id="11" name="Content Placeholder 3">
            <a:extLst>
              <a:ext uri="{FF2B5EF4-FFF2-40B4-BE49-F238E27FC236}">
                <a16:creationId xmlns:a16="http://schemas.microsoft.com/office/drawing/2014/main" id="{894F9960-81D5-9AB3-4BBE-7E70D1AD2722}"/>
              </a:ext>
            </a:extLst>
          </p:cNvPr>
          <p:cNvGraphicFramePr>
            <a:graphicFrameLocks/>
          </p:cNvGraphicFramePr>
          <p:nvPr>
            <p:extLst>
              <p:ext uri="{D42A27DB-BD31-4B8C-83A1-F6EECF244321}">
                <p14:modId xmlns:p14="http://schemas.microsoft.com/office/powerpoint/2010/main" val="4194904215"/>
              </p:ext>
            </p:extLst>
          </p:nvPr>
        </p:nvGraphicFramePr>
        <p:xfrm>
          <a:off x="391726" y="990744"/>
          <a:ext cx="8352928" cy="4065546"/>
        </p:xfrm>
        <a:graphic>
          <a:graphicData uri="http://schemas.openxmlformats.org/drawingml/2006/table">
            <a:tbl>
              <a:tblPr firstRow="1" bandRow="1">
                <a:tableStyleId>{5C22544A-7EE6-4342-B048-85BDC9FD1C3A}</a:tableStyleId>
              </a:tblPr>
              <a:tblGrid>
                <a:gridCol w="1294516">
                  <a:extLst>
                    <a:ext uri="{9D8B030D-6E8A-4147-A177-3AD203B41FA5}">
                      <a16:colId xmlns:a16="http://schemas.microsoft.com/office/drawing/2014/main" val="20000"/>
                    </a:ext>
                  </a:extLst>
                </a:gridCol>
                <a:gridCol w="1568536">
                  <a:extLst>
                    <a:ext uri="{9D8B030D-6E8A-4147-A177-3AD203B41FA5}">
                      <a16:colId xmlns:a16="http://schemas.microsoft.com/office/drawing/2014/main" val="20001"/>
                    </a:ext>
                  </a:extLst>
                </a:gridCol>
                <a:gridCol w="1568536">
                  <a:extLst>
                    <a:ext uri="{9D8B030D-6E8A-4147-A177-3AD203B41FA5}">
                      <a16:colId xmlns:a16="http://schemas.microsoft.com/office/drawing/2014/main" val="20002"/>
                    </a:ext>
                  </a:extLst>
                </a:gridCol>
                <a:gridCol w="3921340">
                  <a:extLst>
                    <a:ext uri="{9D8B030D-6E8A-4147-A177-3AD203B41FA5}">
                      <a16:colId xmlns:a16="http://schemas.microsoft.com/office/drawing/2014/main" val="20003"/>
                    </a:ext>
                  </a:extLst>
                </a:gridCol>
              </a:tblGrid>
              <a:tr h="336972">
                <a:tc>
                  <a:txBody>
                    <a:bodyPr/>
                    <a:lstStyle/>
                    <a:p>
                      <a:pPr algn="l"/>
                      <a:r>
                        <a:rPr lang="en-IN" sz="1200" dirty="0">
                          <a:latin typeface="Times" panose="02020603050405020304" pitchFamily="18" charset="0"/>
                          <a:cs typeface="Times" panose="02020603050405020304" pitchFamily="18" charset="0"/>
                        </a:rPr>
                        <a:t>Year  </a:t>
                      </a:r>
                    </a:p>
                  </a:txBody>
                  <a:tcPr marL="68580" marR="68580" marT="34290" marB="34290"/>
                </a:tc>
                <a:tc>
                  <a:txBody>
                    <a:bodyPr/>
                    <a:lstStyle/>
                    <a:p>
                      <a:pPr algn="l"/>
                      <a:r>
                        <a:rPr lang="en-IN" sz="1200" dirty="0">
                          <a:latin typeface="Times" panose="02020603050405020304" pitchFamily="18" charset="0"/>
                          <a:cs typeface="Times" panose="02020603050405020304" pitchFamily="18" charset="0"/>
                        </a:rPr>
                        <a:t>Authors</a:t>
                      </a:r>
                    </a:p>
                  </a:txBody>
                  <a:tcPr marL="68580" marR="68580" marT="34290" marB="34290"/>
                </a:tc>
                <a:tc>
                  <a:txBody>
                    <a:bodyPr/>
                    <a:lstStyle/>
                    <a:p>
                      <a:pPr algn="l"/>
                      <a:r>
                        <a:rPr lang="en-IN" sz="1200" dirty="0">
                          <a:latin typeface="Times" panose="02020603050405020304" pitchFamily="18" charset="0"/>
                          <a:cs typeface="Times" panose="02020603050405020304" pitchFamily="18" charset="0"/>
                        </a:rPr>
                        <a:t>Title</a:t>
                      </a:r>
                    </a:p>
                  </a:txBody>
                  <a:tcPr marL="68580" marR="68580" marT="34290" marB="34290"/>
                </a:tc>
                <a:tc>
                  <a:txBody>
                    <a:bodyPr/>
                    <a:lstStyle/>
                    <a:p>
                      <a:pPr algn="l"/>
                      <a:r>
                        <a:rPr lang="en-IN" sz="1200" dirty="0">
                          <a:latin typeface="Times" panose="02020603050405020304" pitchFamily="18" charset="0"/>
                          <a:cs typeface="Times" panose="02020603050405020304" pitchFamily="18" charset="0"/>
                        </a:rPr>
                        <a:t>Methodology</a:t>
                      </a:r>
                    </a:p>
                  </a:txBody>
                  <a:tcPr marL="68580" marR="68580" marT="34290" marB="34290"/>
                </a:tc>
                <a:extLst>
                  <a:ext uri="{0D108BD9-81ED-4DB2-BD59-A6C34878D82A}">
                    <a16:rowId xmlns:a16="http://schemas.microsoft.com/office/drawing/2014/main" val="10000"/>
                  </a:ext>
                </a:extLst>
              </a:tr>
              <a:tr h="3728574">
                <a:tc>
                  <a:txBody>
                    <a:bodyPr/>
                    <a:lstStyle/>
                    <a:p>
                      <a:pPr algn="l"/>
                      <a:r>
                        <a:rPr lang="en-IN" sz="1200" dirty="0">
                          <a:latin typeface="Times" panose="02020603050405020304" pitchFamily="18" charset="0"/>
                          <a:cs typeface="Times" panose="02020603050405020304" pitchFamily="18" charset="0"/>
                        </a:rPr>
                        <a:t>2022</a:t>
                      </a:r>
                    </a:p>
                  </a:txBody>
                  <a:tcPr marL="68580" marR="68580" marT="34290" marB="34290"/>
                </a:tc>
                <a:tc>
                  <a:txBody>
                    <a:bodyPr/>
                    <a:lstStyle/>
                    <a:p>
                      <a:pPr algn="l"/>
                      <a:r>
                        <a:rPr lang="en-IN" sz="1200" dirty="0" err="1" smtClean="0">
                          <a:latin typeface="Times" panose="02020603050405020304" pitchFamily="18" charset="0"/>
                          <a:cs typeface="Times" panose="02020603050405020304" pitchFamily="18" charset="0"/>
                        </a:rPr>
                        <a:t>Kalpesh</a:t>
                      </a:r>
                      <a:r>
                        <a:rPr lang="en-IN" sz="1200" dirty="0" smtClean="0">
                          <a:latin typeface="Times" panose="02020603050405020304" pitchFamily="18" charset="0"/>
                          <a:cs typeface="Times" panose="02020603050405020304" pitchFamily="18" charset="0"/>
                        </a:rPr>
                        <a:t> </a:t>
                      </a:r>
                      <a:r>
                        <a:rPr lang="en-IN" sz="1200" dirty="0" err="1" smtClean="0">
                          <a:latin typeface="Times" panose="02020603050405020304" pitchFamily="18" charset="0"/>
                          <a:cs typeface="Times" panose="02020603050405020304" pitchFamily="18" charset="0"/>
                        </a:rPr>
                        <a:t>Koli</a:t>
                      </a:r>
                      <a:endParaRPr lang="en-IN" sz="1200" dirty="0">
                        <a:latin typeface="Times" panose="02020603050405020304" pitchFamily="18" charset="0"/>
                        <a:cs typeface="Times" panose="02020603050405020304" pitchFamily="18" charset="0"/>
                      </a:endParaRPr>
                    </a:p>
                  </a:txBody>
                  <a:tcPr marL="68580" marR="68580" marT="34290" marB="34290"/>
                </a:tc>
                <a:tc>
                  <a:txBody>
                    <a:bodyPr/>
                    <a:lstStyle/>
                    <a:p>
                      <a:pPr algn="l"/>
                      <a:r>
                        <a:rPr lang="en-US" sz="1200" dirty="0" smtClean="0">
                          <a:latin typeface="Times" panose="02020603050405020304" pitchFamily="18" charset="0"/>
                          <a:cs typeface="Times" panose="02020603050405020304" pitchFamily="18" charset="0"/>
                        </a:rPr>
                        <a:t>An</a:t>
                      </a:r>
                      <a:r>
                        <a:rPr lang="en-US" sz="1200" baseline="0" dirty="0" smtClean="0">
                          <a:latin typeface="Times" panose="02020603050405020304" pitchFamily="18" charset="0"/>
                          <a:cs typeface="Times" panose="02020603050405020304" pitchFamily="18" charset="0"/>
                        </a:rPr>
                        <a:t>  Analytical Approach to UPI Fraud detection Using Machine and deep Learning Techniques</a:t>
                      </a:r>
                      <a:endParaRPr lang="en-US" sz="1200" dirty="0">
                        <a:latin typeface="Times" panose="02020603050405020304" pitchFamily="18" charset="0"/>
                        <a:cs typeface="Times" panose="02020603050405020304" pitchFamily="18" charset="0"/>
                      </a:endParaRPr>
                    </a:p>
                  </a:txBody>
                  <a:tcPr marL="68580" marR="68580" marT="34290" marB="34290"/>
                </a:tc>
                <a:tc>
                  <a:txBody>
                    <a:bodyPr/>
                    <a:lstStyle/>
                    <a:p>
                      <a:pPr algn="just"/>
                      <a:r>
                        <a:rPr lang="en-US" sz="1200" dirty="0" smtClean="0">
                          <a:latin typeface="Times" panose="02020603050405020304" pitchFamily="18" charset="0"/>
                          <a:cs typeface="Times" panose="02020603050405020304" pitchFamily="18" charset="0"/>
                        </a:rPr>
                        <a:t>Train</a:t>
                      </a:r>
                      <a:r>
                        <a:rPr lang="en-US" sz="1200" baseline="0" dirty="0" smtClean="0">
                          <a:latin typeface="Times" panose="02020603050405020304" pitchFamily="18" charset="0"/>
                          <a:cs typeface="Times" panose="02020603050405020304" pitchFamily="18" charset="0"/>
                        </a:rPr>
                        <a:t> ML model using labeled data to learn pattern and relationships.</a:t>
                      </a:r>
                    </a:p>
                    <a:p>
                      <a:pPr algn="just"/>
                      <a:r>
                        <a:rPr lang="en-US" sz="1200" baseline="0" dirty="0" smtClean="0">
                          <a:latin typeface="Times" panose="02020603050405020304" pitchFamily="18" charset="0"/>
                          <a:cs typeface="Times" panose="02020603050405020304" pitchFamily="18" charset="0"/>
                        </a:rPr>
                        <a:t>Combine multiple ML models to improve the overall performance and robustness of the fraud detection System.</a:t>
                      </a:r>
                    </a:p>
                    <a:p>
                      <a:pPr algn="just"/>
                      <a:r>
                        <a:rPr lang="en-US" sz="1200" baseline="0" dirty="0" smtClean="0">
                          <a:latin typeface="Times" panose="02020603050405020304" pitchFamily="18" charset="0"/>
                          <a:cs typeface="Times" panose="02020603050405020304" pitchFamily="18" charset="0"/>
                        </a:rPr>
                        <a:t>Use unsupervised learning </a:t>
                      </a:r>
                      <a:r>
                        <a:rPr lang="en-US" sz="1200" baseline="0" dirty="0" err="1" smtClean="0">
                          <a:latin typeface="Times" panose="02020603050405020304" pitchFamily="18" charset="0"/>
                          <a:cs typeface="Times" panose="02020603050405020304" pitchFamily="18" charset="0"/>
                        </a:rPr>
                        <a:t>techniques,such</a:t>
                      </a:r>
                      <a:r>
                        <a:rPr lang="en-US" sz="1200" baseline="0" dirty="0" smtClean="0">
                          <a:latin typeface="Times" panose="02020603050405020304" pitchFamily="18" charset="0"/>
                          <a:cs typeface="Times" panose="02020603050405020304" pitchFamily="18" charset="0"/>
                        </a:rPr>
                        <a:t> as clustering and anomaly </a:t>
                      </a:r>
                      <a:r>
                        <a:rPr lang="en-US" sz="1200" baseline="0" dirty="0" err="1" smtClean="0">
                          <a:latin typeface="Times" panose="02020603050405020304" pitchFamily="18" charset="0"/>
                          <a:cs typeface="Times" panose="02020603050405020304" pitchFamily="18" charset="0"/>
                        </a:rPr>
                        <a:t>detection,to</a:t>
                      </a:r>
                      <a:r>
                        <a:rPr lang="en-US" sz="1200" baseline="0" dirty="0" smtClean="0">
                          <a:latin typeface="Times" panose="02020603050405020304" pitchFamily="18" charset="0"/>
                          <a:cs typeface="Times" panose="02020603050405020304" pitchFamily="18" charset="0"/>
                        </a:rPr>
                        <a:t> identify </a:t>
                      </a:r>
                      <a:r>
                        <a:rPr lang="en-US" sz="1200" baseline="0" dirty="0" err="1" smtClean="0">
                          <a:latin typeface="Times" panose="02020603050405020304" pitchFamily="18" charset="0"/>
                          <a:cs typeface="Times" panose="02020603050405020304" pitchFamily="18" charset="0"/>
                        </a:rPr>
                        <a:t>unusal</a:t>
                      </a:r>
                      <a:r>
                        <a:rPr lang="en-US" sz="1200" baseline="0" dirty="0" smtClean="0">
                          <a:latin typeface="Times" panose="02020603050405020304" pitchFamily="18" charset="0"/>
                          <a:cs typeface="Times" panose="02020603050405020304" pitchFamily="18" charset="0"/>
                        </a:rPr>
                        <a:t> patterns and outliers.</a:t>
                      </a:r>
                      <a:endParaRPr lang="en-IN" sz="1200" dirty="0">
                        <a:latin typeface="Times" panose="02020603050405020304" pitchFamily="18" charset="0"/>
                        <a:cs typeface="Times" panose="02020603050405020304" pitchFamily="18" charset="0"/>
                      </a:endParaRPr>
                    </a:p>
                  </a:txBody>
                  <a:tcPr marL="68580" marR="68580" marT="34290" marB="34290"/>
                </a:tc>
                <a:extLst>
                  <a:ext uri="{0D108BD9-81ED-4DB2-BD59-A6C34878D82A}">
                    <a16:rowId xmlns:a16="http://schemas.microsoft.com/office/drawing/2014/main" val="10001"/>
                  </a:ext>
                </a:extLst>
              </a:tr>
            </a:tbl>
          </a:graphicData>
        </a:graphic>
      </p:graphicFrame>
      <p:pic>
        <p:nvPicPr>
          <p:cNvPr id="4" name="Picture 3">
            <a:extLst>
              <a:ext uri="{FF2B5EF4-FFF2-40B4-BE49-F238E27FC236}">
                <a16:creationId xmlns:a16="http://schemas.microsoft.com/office/drawing/2014/main" id="{FB20713E-91B8-AC00-3431-1A17E994AD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07195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1"/>
            <a:ext cx="913638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29600"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EXISTING SYSTEM</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10</a:t>
            </a:fld>
            <a:endParaRPr lang="en-IN" dirty="0"/>
          </a:p>
        </p:txBody>
      </p:sp>
      <p:sp>
        <p:nvSpPr>
          <p:cNvPr id="6" name="Date Placeholder 5"/>
          <p:cNvSpPr>
            <a:spLocks noGrp="1"/>
          </p:cNvSpPr>
          <p:nvPr>
            <p:ph type="dt" sz="half" idx="10"/>
          </p:nvPr>
        </p:nvSpPr>
        <p:spPr/>
        <p:txBody>
          <a:bodyPr/>
          <a:lstStyle/>
          <a:p>
            <a:fld id="{34A262EB-CA89-441D-A2AB-FEAA6BB14C3F}" type="datetime1">
              <a:rPr lang="en-IN" smtClean="0"/>
              <a:pPr/>
              <a:t>26-12-2024</a:t>
            </a:fld>
            <a:endParaRPr lang="en-IN" dirty="0"/>
          </a:p>
        </p:txBody>
      </p:sp>
      <p:sp>
        <p:nvSpPr>
          <p:cNvPr id="7" name="TextBox 6">
            <a:extLst>
              <a:ext uri="{FF2B5EF4-FFF2-40B4-BE49-F238E27FC236}">
                <a16:creationId xmlns:a16="http://schemas.microsoft.com/office/drawing/2014/main" id="{C9B46AA4-0C9E-B77B-2122-CCFF0DCC9A5D}"/>
              </a:ext>
            </a:extLst>
          </p:cNvPr>
          <p:cNvSpPr txBox="1"/>
          <p:nvPr/>
        </p:nvSpPr>
        <p:spPr>
          <a:xfrm>
            <a:off x="1475656" y="963531"/>
            <a:ext cx="6552728" cy="244682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l">
              <a:lnSpc>
                <a:spcPct val="150000"/>
              </a:lnSpc>
            </a:pPr>
            <a:r>
              <a:rPr lang="en-US" b="1" i="0" dirty="0">
                <a:solidFill>
                  <a:schemeClr val="tx1"/>
                </a:solidFill>
                <a:effectLst/>
                <a:latin typeface="Times New Roman" panose="02020603050405020304" pitchFamily="18" charset="0"/>
                <a:cs typeface="Times New Roman" panose="02020603050405020304" pitchFamily="18" charset="0"/>
              </a:rPr>
              <a:t>Advantages</a:t>
            </a:r>
            <a:r>
              <a:rPr lang="en-US" b="1" i="0" dirty="0" smtClean="0">
                <a:solidFill>
                  <a:schemeClr val="tx1"/>
                </a:solidFill>
                <a:effectLst/>
                <a:latin typeface="Times New Roman" panose="02020603050405020304" pitchFamily="18" charset="0"/>
                <a:cs typeface="Times New Roman" panose="02020603050405020304" pitchFamily="18" charset="0"/>
              </a:rPr>
              <a:t>:</a:t>
            </a:r>
            <a:endParaRPr lang="en-US" sz="1200" b="0" i="0" dirty="0">
              <a:solidFill>
                <a:schemeClr val="tx1"/>
              </a:solidFill>
              <a:effectLst/>
              <a:latin typeface="Times New Roman" panose="02020603050405020304" pitchFamily="18" charset="0"/>
              <a:cs typeface="Times New Roman" panose="02020603050405020304" pitchFamily="18" charset="0"/>
            </a:endParaRPr>
          </a:p>
          <a:p>
            <a:pPr marL="742950" lvl="1" indent="-285750" algn="l">
              <a:lnSpc>
                <a:spcPct val="150000"/>
              </a:lnSpc>
              <a:buFont typeface="Wingdings" panose="05000000000000000000" pitchFamily="2" charset="2"/>
              <a:buChar char="v"/>
            </a:pPr>
            <a:r>
              <a:rPr lang="en-US" sz="1200" b="0" i="0" dirty="0" smtClean="0">
                <a:solidFill>
                  <a:schemeClr val="tx1"/>
                </a:solidFill>
                <a:effectLst/>
                <a:latin typeface="Times New Roman" panose="02020603050405020304" pitchFamily="18" charset="0"/>
                <a:cs typeface="Times New Roman" panose="02020603050405020304" pitchFamily="18" charset="0"/>
              </a:rPr>
              <a:t>Real time detection</a:t>
            </a:r>
          </a:p>
          <a:p>
            <a:pPr marL="742950" lvl="1" indent="-285750" algn="l">
              <a:lnSpc>
                <a:spcPct val="150000"/>
              </a:lnSpc>
              <a:buFont typeface="Wingdings" panose="05000000000000000000" pitchFamily="2" charset="2"/>
              <a:buChar char="v"/>
            </a:pPr>
            <a:r>
              <a:rPr lang="en-US" sz="1200" dirty="0" smtClean="0">
                <a:solidFill>
                  <a:schemeClr val="tx1"/>
                </a:solidFill>
                <a:latin typeface="Times New Roman" panose="02020603050405020304" pitchFamily="18" charset="0"/>
                <a:cs typeface="Times New Roman" panose="02020603050405020304" pitchFamily="18" charset="0"/>
              </a:rPr>
              <a:t>Anomaly Detection</a:t>
            </a:r>
          </a:p>
          <a:p>
            <a:pPr marL="742950" lvl="1" indent="-285750" algn="l">
              <a:lnSpc>
                <a:spcPct val="150000"/>
              </a:lnSpc>
              <a:buFont typeface="Wingdings" panose="05000000000000000000" pitchFamily="2" charset="2"/>
              <a:buChar char="v"/>
            </a:pPr>
            <a:r>
              <a:rPr lang="en-US" sz="1200" b="0" i="0" dirty="0" smtClean="0">
                <a:solidFill>
                  <a:schemeClr val="tx1"/>
                </a:solidFill>
                <a:effectLst/>
                <a:latin typeface="Times New Roman" panose="02020603050405020304" pitchFamily="18" charset="0"/>
                <a:cs typeface="Times New Roman" panose="02020603050405020304" pitchFamily="18" charset="0"/>
              </a:rPr>
              <a:t>Scalability</a:t>
            </a:r>
          </a:p>
          <a:p>
            <a:pPr marL="742950" lvl="1" indent="-285750" algn="l">
              <a:lnSpc>
                <a:spcPct val="150000"/>
              </a:lnSpc>
              <a:buFont typeface="Wingdings" panose="05000000000000000000" pitchFamily="2" charset="2"/>
              <a:buChar char="v"/>
            </a:pPr>
            <a:r>
              <a:rPr lang="en-US" sz="1200" dirty="0" smtClean="0">
                <a:solidFill>
                  <a:schemeClr val="tx1"/>
                </a:solidFill>
                <a:latin typeface="Times New Roman" panose="02020603050405020304" pitchFamily="18" charset="0"/>
                <a:cs typeface="Times New Roman" panose="02020603050405020304" pitchFamily="18" charset="0"/>
              </a:rPr>
              <a:t>Improve </a:t>
            </a:r>
            <a:r>
              <a:rPr lang="en-US" sz="1200" dirty="0" err="1" smtClean="0">
                <a:solidFill>
                  <a:schemeClr val="tx1"/>
                </a:solidFill>
                <a:latin typeface="Times New Roman" panose="02020603050405020304" pitchFamily="18" charset="0"/>
                <a:cs typeface="Times New Roman" panose="02020603050405020304" pitchFamily="18" charset="0"/>
              </a:rPr>
              <a:t>accurancy</a:t>
            </a:r>
            <a:endParaRPr lang="en-US" sz="1200" dirty="0" smtClean="0">
              <a:solidFill>
                <a:schemeClr val="tx1"/>
              </a:solidFill>
              <a:latin typeface="Times New Roman" panose="02020603050405020304" pitchFamily="18" charset="0"/>
              <a:cs typeface="Times New Roman" panose="02020603050405020304" pitchFamily="18" charset="0"/>
            </a:endParaRPr>
          </a:p>
          <a:p>
            <a:pPr marL="742950" lvl="1" indent="-285750" algn="l">
              <a:lnSpc>
                <a:spcPct val="150000"/>
              </a:lnSpc>
              <a:buFont typeface="Wingdings" panose="05000000000000000000" pitchFamily="2" charset="2"/>
              <a:buChar char="v"/>
            </a:pPr>
            <a:r>
              <a:rPr lang="en-US" sz="1200" b="0" i="0" dirty="0" smtClean="0">
                <a:solidFill>
                  <a:schemeClr val="tx1"/>
                </a:solidFill>
                <a:effectLst/>
                <a:latin typeface="Times New Roman" panose="02020603050405020304" pitchFamily="18" charset="0"/>
                <a:cs typeface="Times New Roman" panose="02020603050405020304" pitchFamily="18" charset="0"/>
              </a:rPr>
              <a:t>Continuous Learning</a:t>
            </a:r>
          </a:p>
          <a:p>
            <a:pPr marL="742950" lvl="1" indent="-285750" algn="l">
              <a:lnSpc>
                <a:spcPct val="150000"/>
              </a:lnSpc>
              <a:buFont typeface="Wingdings" panose="05000000000000000000" pitchFamily="2" charset="2"/>
              <a:buChar char="v"/>
            </a:pPr>
            <a:r>
              <a:rPr lang="en-US" sz="1200" dirty="0" smtClean="0">
                <a:solidFill>
                  <a:schemeClr val="tx1"/>
                </a:solidFill>
                <a:latin typeface="Times New Roman" panose="02020603050405020304" pitchFamily="18" charset="0"/>
                <a:cs typeface="Times New Roman" panose="02020603050405020304" pitchFamily="18" charset="0"/>
              </a:rPr>
              <a:t>Cross-</a:t>
            </a:r>
            <a:r>
              <a:rPr lang="en-US" sz="1200" dirty="0" err="1" smtClean="0">
                <a:solidFill>
                  <a:schemeClr val="tx1"/>
                </a:solidFill>
                <a:latin typeface="Times New Roman" panose="02020603050405020304" pitchFamily="18" charset="0"/>
                <a:cs typeface="Times New Roman" panose="02020603050405020304" pitchFamily="18" charset="0"/>
              </a:rPr>
              <a:t>Plotform</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err="1" smtClean="0">
                <a:solidFill>
                  <a:schemeClr val="tx1"/>
                </a:solidFill>
                <a:latin typeface="Times New Roman" panose="02020603050405020304" pitchFamily="18" charset="0"/>
                <a:cs typeface="Times New Roman" panose="02020603050405020304" pitchFamily="18" charset="0"/>
              </a:rPr>
              <a:t>detction</a:t>
            </a:r>
            <a:endParaRPr lang="en-US" sz="1200" b="0" i="0" dirty="0">
              <a:solidFill>
                <a:schemeClr val="tx1"/>
              </a:solidFill>
              <a:effectLst/>
              <a:latin typeface="Times New Roman" panose="02020603050405020304" pitchFamily="18" charset="0"/>
              <a:cs typeface="Times New Roman" panose="02020603050405020304" pitchFamily="18" charset="0"/>
            </a:endParaRPr>
          </a:p>
          <a:p>
            <a:pPr lvl="1" algn="l">
              <a:lnSpc>
                <a:spcPct val="150000"/>
              </a:lnSpc>
            </a:pPr>
            <a:endParaRPr lang="en-US" sz="1200" b="0" i="0" dirty="0">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A9D9DB-BE8F-3012-9DB9-B7586C14D2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310093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1"/>
            <a:ext cx="913638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29600"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EXISTING SYSTEM</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11</a:t>
            </a:fld>
            <a:endParaRPr lang="en-IN" dirty="0"/>
          </a:p>
        </p:txBody>
      </p:sp>
      <p:sp>
        <p:nvSpPr>
          <p:cNvPr id="6" name="Date Placeholder 5"/>
          <p:cNvSpPr>
            <a:spLocks noGrp="1"/>
          </p:cNvSpPr>
          <p:nvPr>
            <p:ph type="dt" sz="half" idx="10"/>
          </p:nvPr>
        </p:nvSpPr>
        <p:spPr/>
        <p:txBody>
          <a:bodyPr/>
          <a:lstStyle/>
          <a:p>
            <a:fld id="{34A262EB-CA89-441D-A2AB-FEAA6BB14C3F}" type="datetime1">
              <a:rPr lang="en-IN" smtClean="0"/>
              <a:pPr/>
              <a:t>26-12-2024</a:t>
            </a:fld>
            <a:endParaRPr lang="en-IN" dirty="0"/>
          </a:p>
        </p:txBody>
      </p:sp>
      <p:sp>
        <p:nvSpPr>
          <p:cNvPr id="7" name="TextBox 6">
            <a:extLst>
              <a:ext uri="{FF2B5EF4-FFF2-40B4-BE49-F238E27FC236}">
                <a16:creationId xmlns:a16="http://schemas.microsoft.com/office/drawing/2014/main" id="{C9B46AA4-0C9E-B77B-2122-CCFF0DCC9A5D}"/>
              </a:ext>
            </a:extLst>
          </p:cNvPr>
          <p:cNvSpPr txBox="1"/>
          <p:nvPr/>
        </p:nvSpPr>
        <p:spPr>
          <a:xfrm>
            <a:off x="1259632" y="1269342"/>
            <a:ext cx="6404901" cy="1536446"/>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l">
              <a:lnSpc>
                <a:spcPct val="150000"/>
              </a:lnSpc>
            </a:pPr>
            <a:r>
              <a:rPr lang="en-US" sz="1600" b="1" i="0" dirty="0">
                <a:effectLst/>
                <a:latin typeface="Times New Roman" panose="02020603050405020304" pitchFamily="18" charset="0"/>
                <a:cs typeface="Times New Roman" panose="02020603050405020304" pitchFamily="18" charset="0"/>
              </a:rPr>
              <a:t>Disadvantages: ( Problems </a:t>
            </a:r>
            <a:r>
              <a:rPr lang="en-US" sz="1600" b="1" i="0" dirty="0" smtClean="0">
                <a:effectLst/>
                <a:latin typeface="Times New Roman" panose="02020603050405020304" pitchFamily="18" charset="0"/>
                <a:cs typeface="Times New Roman" panose="02020603050405020304" pitchFamily="18" charset="0"/>
              </a:rPr>
              <a:t>)</a:t>
            </a:r>
            <a:endParaRPr lang="en-US" sz="1600" b="1" i="0" dirty="0">
              <a:effectLst/>
              <a:latin typeface="Times New Roman" panose="02020603050405020304" pitchFamily="18" charset="0"/>
              <a:cs typeface="Times New Roman" panose="02020603050405020304" pitchFamily="18" charset="0"/>
            </a:endParaRPr>
          </a:p>
          <a:p>
            <a:pPr marL="742950" lvl="1" indent="-285750" algn="l">
              <a:lnSpc>
                <a:spcPct val="150000"/>
              </a:lnSpc>
              <a:buFont typeface="Wingdings" panose="05000000000000000000" pitchFamily="2" charset="2"/>
              <a:buChar char="v"/>
            </a:pPr>
            <a:r>
              <a:rPr lang="en-US" sz="1200" dirty="0" smtClean="0">
                <a:latin typeface="Times New Roman" panose="02020603050405020304" pitchFamily="18" charset="0"/>
                <a:cs typeface="Times New Roman" panose="02020603050405020304" pitchFamily="18" charset="0"/>
              </a:rPr>
              <a:t>Fraud transactions are much less frequent than legitimate</a:t>
            </a:r>
            <a:endParaRPr lang="en-US" sz="1200" b="0" i="0" dirty="0">
              <a:effectLst/>
              <a:latin typeface="Times New Roman" panose="02020603050405020304" pitchFamily="18" charset="0"/>
              <a:cs typeface="Times New Roman" panose="02020603050405020304" pitchFamily="18" charset="0"/>
            </a:endParaRPr>
          </a:p>
          <a:p>
            <a:pPr marL="742950" lvl="1" indent="-285750" algn="l">
              <a:lnSpc>
                <a:spcPct val="150000"/>
              </a:lnSpc>
              <a:buFont typeface="Wingdings" panose="05000000000000000000" pitchFamily="2" charset="2"/>
              <a:buChar char="v"/>
            </a:pPr>
            <a:r>
              <a:rPr lang="en-US" sz="1200" b="0" i="0" dirty="0">
                <a:effectLst/>
                <a:latin typeface="Times New Roman" panose="02020603050405020304" pitchFamily="18" charset="0"/>
                <a:cs typeface="Times New Roman" panose="02020603050405020304" pitchFamily="18" charset="0"/>
              </a:rPr>
              <a:t>May struggle with </a:t>
            </a:r>
            <a:r>
              <a:rPr lang="en-US" sz="1200" dirty="0" smtClean="0">
                <a:latin typeface="Times New Roman" panose="02020603050405020304" pitchFamily="18" charset="0"/>
                <a:cs typeface="Times New Roman" panose="02020603050405020304" pitchFamily="18" charset="0"/>
              </a:rPr>
              <a:t>block boxes</a:t>
            </a:r>
            <a:endParaRPr lang="en-US" sz="1200" b="0" i="0" dirty="0">
              <a:effectLst/>
              <a:latin typeface="Times New Roman" panose="02020603050405020304" pitchFamily="18" charset="0"/>
              <a:cs typeface="Times New Roman" panose="02020603050405020304" pitchFamily="18" charset="0"/>
            </a:endParaRPr>
          </a:p>
          <a:p>
            <a:pPr marL="742950" lvl="1" indent="-285750" algn="l">
              <a:lnSpc>
                <a:spcPct val="150000"/>
              </a:lnSpc>
              <a:buFont typeface="Wingdings" panose="05000000000000000000" pitchFamily="2" charset="2"/>
              <a:buChar char="v"/>
            </a:pPr>
            <a:r>
              <a:rPr lang="en-US" sz="1200" b="0" i="0" dirty="0">
                <a:effectLst/>
                <a:latin typeface="Times New Roman" panose="02020603050405020304" pitchFamily="18" charset="0"/>
                <a:cs typeface="Times New Roman" panose="02020603050405020304" pitchFamily="18" charset="0"/>
              </a:rPr>
              <a:t>Potential for false positives and negatives.</a:t>
            </a:r>
          </a:p>
          <a:p>
            <a:pPr marL="742950" lvl="1" indent="-285750" algn="l">
              <a:lnSpc>
                <a:spcPct val="150000"/>
              </a:lnSpc>
              <a:buFont typeface="Wingdings" panose="05000000000000000000" pitchFamily="2" charset="2"/>
              <a:buChar char="v"/>
            </a:pPr>
            <a:r>
              <a:rPr lang="en-US" sz="1200" dirty="0" smtClean="0">
                <a:latin typeface="Times New Roman" panose="02020603050405020304" pitchFamily="18" charset="0"/>
                <a:cs typeface="Times New Roman" panose="02020603050405020304" pitchFamily="18" charset="0"/>
              </a:rPr>
              <a:t>Model </a:t>
            </a:r>
            <a:r>
              <a:rPr lang="en-US" sz="1200" b="0" i="0" dirty="0" smtClean="0">
                <a:effectLst/>
                <a:latin typeface="Times New Roman" panose="02020603050405020304" pitchFamily="18" charset="0"/>
                <a:cs typeface="Times New Roman" panose="02020603050405020304" pitchFamily="18" charset="0"/>
              </a:rPr>
              <a:t>implementation </a:t>
            </a:r>
            <a:r>
              <a:rPr lang="en-US" sz="1200" b="0" i="0" dirty="0">
                <a:effectLst/>
                <a:latin typeface="Times New Roman" panose="02020603050405020304" pitchFamily="18" charset="0"/>
                <a:cs typeface="Times New Roman" panose="02020603050405020304" pitchFamily="18" charset="0"/>
              </a:rPr>
              <a:t>and maintenance.</a:t>
            </a:r>
          </a:p>
        </p:txBody>
      </p:sp>
      <p:pic>
        <p:nvPicPr>
          <p:cNvPr id="3" name="Picture 2">
            <a:extLst>
              <a:ext uri="{FF2B5EF4-FFF2-40B4-BE49-F238E27FC236}">
                <a16:creationId xmlns:a16="http://schemas.microsoft.com/office/drawing/2014/main" id="{83ED7569-7DEF-48BA-6A6B-E71B808DC8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310093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1"/>
            <a:ext cx="913638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29600"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PROPOSED SYSTEM</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12</a:t>
            </a:fld>
            <a:endParaRPr lang="en-IN" dirty="0"/>
          </a:p>
        </p:txBody>
      </p:sp>
      <p:sp>
        <p:nvSpPr>
          <p:cNvPr id="3" name="Rectangle 2"/>
          <p:cNvSpPr/>
          <p:nvPr/>
        </p:nvSpPr>
        <p:spPr>
          <a:xfrm>
            <a:off x="60108" y="889443"/>
            <a:ext cx="8828622" cy="33701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just"/>
            <a:endParaRPr lang="en-US" sz="1600" b="1" i="0" dirty="0">
              <a:solidFill>
                <a:schemeClr val="tx1"/>
              </a:solidFill>
              <a:effectLst/>
              <a:latin typeface="Times New Roman" panose="02020603050405020304" pitchFamily="18" charset="0"/>
              <a:cs typeface="Times New Roman" panose="02020603050405020304" pitchFamily="18" charset="0"/>
            </a:endParaRPr>
          </a:p>
          <a:p>
            <a:pPr algn="just"/>
            <a:r>
              <a:rPr lang="en-US" sz="1600" b="1" i="0" dirty="0">
                <a:solidFill>
                  <a:schemeClr val="tx1"/>
                </a:solidFill>
                <a:effectLst/>
                <a:latin typeface="Times New Roman" panose="02020603050405020304" pitchFamily="18" charset="0"/>
                <a:cs typeface="Times New Roman" panose="02020603050405020304" pitchFamily="18" charset="0"/>
              </a:rPr>
              <a:t>Objective and Advantages:</a:t>
            </a:r>
          </a:p>
          <a:p>
            <a:pPr algn="just"/>
            <a:endParaRPr lang="en-US" sz="1600" b="1" i="0" dirty="0">
              <a:solidFill>
                <a:schemeClr val="tx1"/>
              </a:solidFill>
              <a:effectLst/>
              <a:latin typeface="Times New Roman" panose="02020603050405020304" pitchFamily="18" charset="0"/>
              <a:cs typeface="Times New Roman" panose="02020603050405020304" pitchFamily="18" charset="0"/>
            </a:endParaRPr>
          </a:p>
          <a:p>
            <a:pPr marL="171450" indent="-171450" algn="just" fontAlgn="base">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Various modern techniques like artificial neural </a:t>
            </a:r>
            <a:r>
              <a:rPr lang="en-US" sz="1200" dirty="0" smtClean="0">
                <a:latin typeface="Times New Roman" panose="02020603050405020304" pitchFamily="18" charset="0"/>
                <a:cs typeface="Times New Roman" panose="02020603050405020304" pitchFamily="18" charset="0"/>
              </a:rPr>
              <a:t>network.</a:t>
            </a:r>
            <a:endParaRPr lang="en-US" sz="1200" dirty="0">
              <a:latin typeface="Times New Roman" panose="02020603050405020304" pitchFamily="18" charset="0"/>
              <a:cs typeface="Times New Roman" panose="02020603050405020304" pitchFamily="18" charset="0"/>
            </a:endParaRPr>
          </a:p>
          <a:p>
            <a:pPr marL="171450" indent="-171450" algn="just" fontAlgn="base">
              <a:lnSpc>
                <a:spcPct val="150000"/>
              </a:lnSpc>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Different </a:t>
            </a:r>
            <a:r>
              <a:rPr lang="en-US" sz="1200" dirty="0">
                <a:latin typeface="Times New Roman" panose="02020603050405020304" pitchFamily="18" charset="0"/>
                <a:cs typeface="Times New Roman" panose="02020603050405020304" pitchFamily="18" charset="0"/>
              </a:rPr>
              <a:t>machine learning algorithms are compared, including Auto Encoder, Local Outlier Factor, </a:t>
            </a:r>
            <a:r>
              <a:rPr lang="en-US" sz="1200" dirty="0" err="1">
                <a:latin typeface="Times New Roman" panose="02020603050405020304" pitchFamily="18" charset="0"/>
                <a:cs typeface="Times New Roman" panose="02020603050405020304" pitchFamily="18" charset="0"/>
              </a:rPr>
              <a:t>Kmeans</a:t>
            </a:r>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Clustering</a:t>
            </a:r>
            <a:r>
              <a:rPr lang="en-US"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171450" indent="-171450" algn="just" fontAlgn="base">
              <a:lnSpc>
                <a:spcPct val="150000"/>
              </a:lnSpc>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This </a:t>
            </a:r>
            <a:r>
              <a:rPr lang="en-US" sz="1200" dirty="0">
                <a:latin typeface="Times New Roman" panose="02020603050405020304" pitchFamily="18" charset="0"/>
                <a:cs typeface="Times New Roman" panose="02020603050405020304" pitchFamily="18" charset="0"/>
              </a:rPr>
              <a:t>project uses various algorithm, and neural network which comprises of techniques for finding optimal solution for the problem and </a:t>
            </a:r>
            <a:r>
              <a:rPr lang="en-US" sz="1200" dirty="0" smtClean="0">
                <a:latin typeface="Times New Roman" panose="02020603050405020304" pitchFamily="18" charset="0"/>
                <a:cs typeface="Times New Roman" panose="02020603050405020304" pitchFamily="18" charset="0"/>
              </a:rPr>
              <a:t>Implicitly </a:t>
            </a:r>
            <a:r>
              <a:rPr lang="en-US" sz="1200" dirty="0">
                <a:latin typeface="Times New Roman" panose="02020603050405020304" pitchFamily="18" charset="0"/>
                <a:cs typeface="Times New Roman" panose="02020603050405020304" pitchFamily="18" charset="0"/>
              </a:rPr>
              <a:t>generating the result of the fraudulent transaction</a:t>
            </a:r>
            <a:r>
              <a:rPr lang="en-US" sz="1200"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171450" indent="-171450" algn="just" fontAlgn="base">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The main aim is to detect the fraudulent transaction and to develop a method of generating test data.</a:t>
            </a:r>
          </a:p>
          <a:p>
            <a:pPr marL="171450" indent="-171450" algn="just" fontAlgn="base">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This algorithm is a heuristic approach used to solve high complexity computational problems.</a:t>
            </a:r>
          </a:p>
          <a:p>
            <a:pPr marL="171450" indent="-171450" algn="just" fontAlgn="base">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implementation of an efficient fraud detection system is imperative for all UPI issuing companies and their clients to minimize their losses.</a:t>
            </a:r>
          </a:p>
          <a:p>
            <a:pPr marL="742950" lvl="1" indent="-285750" algn="just">
              <a:lnSpc>
                <a:spcPct val="150000"/>
              </a:lnSpc>
              <a:buFont typeface="Wingdings" panose="05000000000000000000" pitchFamily="2" charset="2"/>
              <a:buChar char="v"/>
            </a:pPr>
            <a:endParaRPr lang="en-US" sz="1400" b="0" i="0" dirty="0">
              <a:solidFill>
                <a:schemeClr val="tx1"/>
              </a:solidFill>
              <a:effectLst/>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34A262EB-CA89-441D-A2AB-FEAA6BB14C3F}" type="datetime1">
              <a:rPr lang="en-IN" smtClean="0"/>
              <a:pPr/>
              <a:t>26-12-2024</a:t>
            </a:fld>
            <a:endParaRPr lang="en-IN" dirty="0"/>
          </a:p>
        </p:txBody>
      </p:sp>
      <p:pic>
        <p:nvPicPr>
          <p:cNvPr id="4" name="Picture 3">
            <a:extLst>
              <a:ext uri="{FF2B5EF4-FFF2-40B4-BE49-F238E27FC236}">
                <a16:creationId xmlns:a16="http://schemas.microsoft.com/office/drawing/2014/main" id="{86E9BA48-84FF-E591-FA1F-C6A7AEB6DB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07332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1"/>
            <a:ext cx="9136380" cy="830997"/>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29600"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PROPOSED SYSTEM</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13</a:t>
            </a:fld>
            <a:endParaRPr lang="en-IN" dirty="0"/>
          </a:p>
        </p:txBody>
      </p:sp>
      <p:sp>
        <p:nvSpPr>
          <p:cNvPr id="6" name="Date Placeholder 5"/>
          <p:cNvSpPr>
            <a:spLocks noGrp="1"/>
          </p:cNvSpPr>
          <p:nvPr>
            <p:ph type="dt" sz="half" idx="10"/>
          </p:nvPr>
        </p:nvSpPr>
        <p:spPr/>
        <p:txBody>
          <a:bodyPr/>
          <a:lstStyle/>
          <a:p>
            <a:fld id="{34A262EB-CA89-441D-A2AB-FEAA6BB14C3F}" type="datetime1">
              <a:rPr lang="en-IN" smtClean="0"/>
              <a:pPr/>
              <a:t>26-12-2024</a:t>
            </a:fld>
            <a:endParaRPr lang="en-IN" dirty="0"/>
          </a:p>
        </p:txBody>
      </p:sp>
      <p:sp>
        <p:nvSpPr>
          <p:cNvPr id="9" name="TextBox 8">
            <a:extLst>
              <a:ext uri="{FF2B5EF4-FFF2-40B4-BE49-F238E27FC236}">
                <a16:creationId xmlns:a16="http://schemas.microsoft.com/office/drawing/2014/main" id="{E6E5F412-B13E-10B4-40D5-4C86A51742B7}"/>
              </a:ext>
            </a:extLst>
          </p:cNvPr>
          <p:cNvSpPr txBox="1"/>
          <p:nvPr/>
        </p:nvSpPr>
        <p:spPr>
          <a:xfrm>
            <a:off x="144488" y="812709"/>
            <a:ext cx="6408712" cy="32778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just">
              <a:lnSpc>
                <a:spcPct val="150000"/>
              </a:lnSpc>
            </a:pPr>
            <a:r>
              <a:rPr lang="en-US" sz="1600" b="1" i="0" dirty="0">
                <a:solidFill>
                  <a:schemeClr val="tx1"/>
                </a:solidFill>
                <a:effectLst/>
                <a:latin typeface="Times New Roman" panose="02020603050405020304" pitchFamily="18" charset="0"/>
                <a:cs typeface="Times New Roman" panose="02020603050405020304" pitchFamily="18" charset="0"/>
              </a:rPr>
              <a:t>METHODOLOGY: </a:t>
            </a:r>
            <a:endParaRPr lang="en-US" sz="1600" b="1"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1200" dirty="0" smtClean="0">
                <a:solidFill>
                  <a:schemeClr val="tx1"/>
                </a:solidFill>
                <a:latin typeface="Times New Roman" panose="02020603050405020304" pitchFamily="18" charset="0"/>
                <a:cs typeface="Times New Roman" panose="02020603050405020304" pitchFamily="18" charset="0"/>
              </a:rPr>
              <a:t>1.</a:t>
            </a:r>
            <a:r>
              <a:rPr lang="en-US" sz="1200" dirty="0" smtClean="0">
                <a:solidFill>
                  <a:srgbClr val="1F1F1F"/>
                </a:solidFill>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Problem </a:t>
            </a:r>
            <a:r>
              <a:rPr lang="en-US" sz="1200" dirty="0">
                <a:latin typeface="Times New Roman" panose="02020603050405020304" pitchFamily="18" charset="0"/>
                <a:cs typeface="Times New Roman" panose="02020603050405020304" pitchFamily="18" charset="0"/>
              </a:rPr>
              <a:t>Definition and Objective </a:t>
            </a:r>
            <a:r>
              <a:rPr lang="en-US" sz="1200" dirty="0" smtClean="0">
                <a:latin typeface="Times New Roman" panose="02020603050405020304" pitchFamily="18" charset="0"/>
                <a:cs typeface="Times New Roman" panose="02020603050405020304" pitchFamily="18" charset="0"/>
              </a:rPr>
              <a:t>Setting</a:t>
            </a:r>
          </a:p>
          <a:p>
            <a:pPr algn="just">
              <a:lnSpc>
                <a:spcPct val="150000"/>
              </a:lnSpc>
            </a:pPr>
            <a:r>
              <a:rPr lang="en-US" sz="1200" dirty="0" smtClean="0">
                <a:latin typeface="Times New Roman" panose="02020603050405020304" pitchFamily="18" charset="0"/>
                <a:cs typeface="Times New Roman" panose="02020603050405020304" pitchFamily="18" charset="0"/>
              </a:rPr>
              <a:t>2.  Data Collection(</a:t>
            </a:r>
            <a:r>
              <a:rPr lang="en-IN" sz="1200" dirty="0" smtClean="0">
                <a:latin typeface="Times New Roman" panose="02020603050405020304" pitchFamily="18" charset="0"/>
                <a:cs typeface="Times New Roman" panose="02020603050405020304" pitchFamily="18" charset="0"/>
              </a:rPr>
              <a:t>Any </a:t>
            </a:r>
            <a:r>
              <a:rPr lang="en-IN" sz="1200" dirty="0">
                <a:latin typeface="Times New Roman" panose="02020603050405020304" pitchFamily="18" charset="0"/>
                <a:cs typeface="Times New Roman" panose="02020603050405020304" pitchFamily="18" charset="0"/>
              </a:rPr>
              <a:t>third-party fraud </a:t>
            </a:r>
            <a:r>
              <a:rPr lang="en-IN" sz="1200" dirty="0" smtClean="0">
                <a:latin typeface="Times New Roman" panose="02020603050405020304" pitchFamily="18" charset="0"/>
                <a:cs typeface="Times New Roman" panose="02020603050405020304" pitchFamily="18" charset="0"/>
              </a:rPr>
              <a:t>indicators)</a:t>
            </a:r>
          </a:p>
          <a:p>
            <a:pPr algn="just">
              <a:lnSpc>
                <a:spcPct val="150000"/>
              </a:lnSpc>
            </a:pPr>
            <a:r>
              <a:rPr lang="en-IN" sz="1200" dirty="0" smtClean="0">
                <a:latin typeface="Times New Roman" panose="02020603050405020304" pitchFamily="18" charset="0"/>
                <a:cs typeface="Times New Roman" panose="02020603050405020304" pitchFamily="18" charset="0"/>
              </a:rPr>
              <a:t>3.</a:t>
            </a:r>
            <a:r>
              <a:rPr lang="en-IN" sz="1200" dirty="0" smtClean="0">
                <a:effectLst/>
                <a:latin typeface="Times New Roman" panose="02020603050405020304" pitchFamily="18" charset="0"/>
                <a:cs typeface="Times New Roman" panose="02020603050405020304" pitchFamily="18" charset="0"/>
              </a:rPr>
              <a:t> Data Processing(</a:t>
            </a:r>
            <a:r>
              <a:rPr lang="en-US" sz="1200" dirty="0">
                <a:latin typeface="Times New Roman" panose="02020603050405020304" pitchFamily="18" charset="0"/>
                <a:cs typeface="Times New Roman" panose="02020603050405020304" pitchFamily="18" charset="0"/>
              </a:rPr>
              <a:t>Label data as "fraudulent" or "non-fraudulent" based on historical data</a:t>
            </a:r>
            <a:r>
              <a:rPr lang="en-US" sz="1200" dirty="0" smtClean="0">
                <a:latin typeface="Times New Roman" panose="02020603050405020304" pitchFamily="18" charset="0"/>
                <a:cs typeface="Times New Roman" panose="02020603050405020304" pitchFamily="18" charset="0"/>
              </a:rPr>
              <a:t>.)</a:t>
            </a:r>
          </a:p>
          <a:p>
            <a:pPr>
              <a:lnSpc>
                <a:spcPct val="150000"/>
              </a:lnSpc>
            </a:pPr>
            <a:r>
              <a:rPr lang="en-US" sz="1200" dirty="0" smtClean="0">
                <a:latin typeface="Times New Roman" panose="02020603050405020304" pitchFamily="18" charset="0"/>
                <a:cs typeface="Times New Roman" panose="02020603050405020304" pitchFamily="18" charset="0"/>
              </a:rPr>
              <a:t>4.  Model Training(Split </a:t>
            </a:r>
            <a:r>
              <a:rPr lang="en-US" sz="1200" dirty="0">
                <a:latin typeface="Times New Roman" panose="02020603050405020304" pitchFamily="18" charset="0"/>
                <a:cs typeface="Times New Roman" panose="02020603050405020304" pitchFamily="18" charset="0"/>
              </a:rPr>
              <a:t>the data into training and testing </a:t>
            </a:r>
            <a:r>
              <a:rPr lang="en-US" sz="1200" dirty="0" smtClean="0">
                <a:latin typeface="Times New Roman" panose="02020603050405020304" pitchFamily="18" charset="0"/>
                <a:cs typeface="Times New Roman" panose="02020603050405020304" pitchFamily="18" charset="0"/>
              </a:rPr>
              <a:t>sets) </a:t>
            </a:r>
          </a:p>
          <a:p>
            <a:pPr>
              <a:lnSpc>
                <a:spcPct val="150000"/>
              </a:lnSpc>
            </a:pPr>
            <a:r>
              <a:rPr lang="en-US" sz="1200" dirty="0" smtClean="0">
                <a:latin typeface="Times New Roman" panose="02020603050405020304" pitchFamily="18" charset="0"/>
                <a:cs typeface="Times New Roman" panose="02020603050405020304" pitchFamily="18" charset="0"/>
              </a:rPr>
              <a:t>5. Once </a:t>
            </a:r>
            <a:r>
              <a:rPr lang="en-US" sz="1200" dirty="0">
                <a:latin typeface="Times New Roman" panose="02020603050405020304" pitchFamily="18" charset="0"/>
                <a:cs typeface="Times New Roman" panose="02020603050405020304" pitchFamily="18" charset="0"/>
              </a:rPr>
              <a:t>the model is trained and evaluated, deploy it in a production environment for real-time transaction monitoring.</a:t>
            </a:r>
          </a:p>
          <a:p>
            <a:pPr>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endParaRPr lang="en-IN" sz="1200" dirty="0">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endParaRPr lang="en-US" sz="120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1400" i="0" dirty="0" smtClean="0">
                <a:solidFill>
                  <a:srgbClr val="1F1F1F"/>
                </a:solidFill>
                <a:effectLst/>
                <a:latin typeface="Times New Roman" panose="02020603050405020304" pitchFamily="18" charset="0"/>
                <a:cs typeface="Times New Roman" panose="02020603050405020304" pitchFamily="18" charset="0"/>
              </a:rPr>
              <a:t> </a:t>
            </a:r>
            <a:endParaRPr lang="en-US" sz="1400" i="0" dirty="0">
              <a:solidFill>
                <a:srgbClr val="1F1F1F"/>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A2C2937-F5BD-3AE0-7F0E-B0C8C007C6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4118" name="Picture 22" descr="Anywhere Fraud – OrboGraph">
            <a:extLst>
              <a:ext uri="{FF2B5EF4-FFF2-40B4-BE49-F238E27FC236}">
                <a16:creationId xmlns:a16="http://schemas.microsoft.com/office/drawing/2014/main" id="{64BBECFB-5AAC-6A45-2C60-102169DA5D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5150" y="917386"/>
            <a:ext cx="2285014" cy="3444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033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18"/>
                                        </p:tgtEl>
                                        <p:attrNameLst>
                                          <p:attrName>style.visibility</p:attrName>
                                        </p:attrNameLst>
                                      </p:cBhvr>
                                      <p:to>
                                        <p:strVal val="visible"/>
                                      </p:to>
                                    </p:set>
                                    <p:animEffect transition="in" filter="fade">
                                      <p:cBhvr>
                                        <p:cTn id="7" dur="500"/>
                                        <p:tgtEl>
                                          <p:spTgt spid="4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ADC078-596A-2B02-BF25-19518D935E73}"/>
              </a:ext>
            </a:extLst>
          </p:cNvPr>
          <p:cNvSpPr>
            <a:spLocks noGrp="1"/>
          </p:cNvSpPr>
          <p:nvPr>
            <p:ph type="dt" sz="half" idx="10"/>
          </p:nvPr>
        </p:nvSpPr>
        <p:spPr/>
        <p:txBody>
          <a:bodyPr/>
          <a:lstStyle/>
          <a:p>
            <a:fld id="{43FD5E6F-4E07-4AB6-BBE1-E8E61011B524}" type="datetime1">
              <a:rPr lang="en-IN" smtClean="0"/>
              <a:pPr/>
              <a:t>26-12-2024</a:t>
            </a:fld>
            <a:endParaRPr lang="en-IN" dirty="0"/>
          </a:p>
        </p:txBody>
      </p:sp>
      <p:sp>
        <p:nvSpPr>
          <p:cNvPr id="3" name="Slide Number Placeholder 2">
            <a:extLst>
              <a:ext uri="{FF2B5EF4-FFF2-40B4-BE49-F238E27FC236}">
                <a16:creationId xmlns:a16="http://schemas.microsoft.com/office/drawing/2014/main" id="{E29CE523-5CAA-BE86-D422-2D616F06576E}"/>
              </a:ext>
            </a:extLst>
          </p:cNvPr>
          <p:cNvSpPr>
            <a:spLocks noGrp="1"/>
          </p:cNvSpPr>
          <p:nvPr>
            <p:ph type="sldNum" sz="quarter" idx="12"/>
          </p:nvPr>
        </p:nvSpPr>
        <p:spPr/>
        <p:txBody>
          <a:bodyPr/>
          <a:lstStyle/>
          <a:p>
            <a:fld id="{80999B1E-9774-4338-A494-7EE81CDA6832}" type="slidenum">
              <a:rPr lang="en-IN" smtClean="0"/>
              <a:pPr/>
              <a:t>14</a:t>
            </a:fld>
            <a:endParaRPr lang="en-IN" dirty="0"/>
          </a:p>
        </p:txBody>
      </p:sp>
      <p:sp>
        <p:nvSpPr>
          <p:cNvPr id="27" name="TextBox 6">
            <a:extLst>
              <a:ext uri="{FF2B5EF4-FFF2-40B4-BE49-F238E27FC236}">
                <a16:creationId xmlns:a16="http://schemas.microsoft.com/office/drawing/2014/main" id="{1B269F46-9548-5EC7-9CAB-7DAF07831B7C}"/>
              </a:ext>
            </a:extLst>
          </p:cNvPr>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8" name="Title 1">
            <a:extLst>
              <a:ext uri="{FF2B5EF4-FFF2-40B4-BE49-F238E27FC236}">
                <a16:creationId xmlns:a16="http://schemas.microsoft.com/office/drawing/2014/main" id="{138CB155-603C-02F4-B2E2-8308F692FBA4}"/>
              </a:ext>
            </a:extLst>
          </p:cNvPr>
          <p:cNvSpPr txBox="1">
            <a:spLocks/>
          </p:cNvSpPr>
          <p:nvPr/>
        </p:nvSpPr>
        <p:spPr>
          <a:xfrm>
            <a:off x="455642" y="-702"/>
            <a:ext cx="8229600" cy="622425"/>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1800" b="1" dirty="0">
                <a:solidFill>
                  <a:schemeClr val="bg1"/>
                </a:solidFill>
                <a:latin typeface="Times New Roman" panose="02020603050405020304" pitchFamily="18" charset="0"/>
                <a:cs typeface="Times New Roman" panose="02020603050405020304" pitchFamily="18" charset="0"/>
              </a:rPr>
              <a:t/>
            </a:r>
            <a:br>
              <a:rPr lang="en-IN" sz="18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SYSTEM REQUIREMENT &amp; SPECIFICATIONS</a:t>
            </a:r>
            <a:r>
              <a:rPr lang="en-IN" sz="2000" dirty="0">
                <a:solidFill>
                  <a:schemeClr val="bg1"/>
                </a:solidFill>
                <a:latin typeface="Times New Roman" panose="02020603050405020304" pitchFamily="18" charset="0"/>
                <a:cs typeface="Times New Roman" panose="02020603050405020304" pitchFamily="18" charset="0"/>
              </a:rPr>
              <a:t/>
            </a:r>
            <a:br>
              <a:rPr lang="en-IN" sz="2000" dirty="0">
                <a:solidFill>
                  <a:schemeClr val="bg1"/>
                </a:solidFill>
                <a:latin typeface="Times New Roman" panose="02020603050405020304" pitchFamily="18" charset="0"/>
                <a:cs typeface="Times New Roman" panose="02020603050405020304" pitchFamily="18" charset="0"/>
              </a:rPr>
            </a:b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29" name="Slide Number Placeholder 4">
            <a:extLst>
              <a:ext uri="{FF2B5EF4-FFF2-40B4-BE49-F238E27FC236}">
                <a16:creationId xmlns:a16="http://schemas.microsoft.com/office/drawing/2014/main" id="{9C54D977-F100-9380-38D3-C822BC5C57AA}"/>
              </a:ext>
            </a:extLst>
          </p:cNvPr>
          <p:cNvSpPr txBox="1">
            <a:spLocks/>
          </p:cNvSpPr>
          <p:nvPr/>
        </p:nvSpPr>
        <p:spPr>
          <a:xfrm>
            <a:off x="6553200" y="4767264"/>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0999B1E-9774-4338-A494-7EE81CDA6832}" type="slidenum">
              <a:rPr lang="en-IN" smtClean="0"/>
              <a:pPr/>
              <a:t>14</a:t>
            </a:fld>
            <a:endParaRPr lang="en-IN" dirty="0"/>
          </a:p>
        </p:txBody>
      </p:sp>
      <p:sp>
        <p:nvSpPr>
          <p:cNvPr id="30" name="Date Placeholder 2">
            <a:extLst>
              <a:ext uri="{FF2B5EF4-FFF2-40B4-BE49-F238E27FC236}">
                <a16:creationId xmlns:a16="http://schemas.microsoft.com/office/drawing/2014/main" id="{5A33EDEA-684F-36FC-89D1-25FFC96DB2B3}"/>
              </a:ext>
            </a:extLst>
          </p:cNvPr>
          <p:cNvSpPr txBox="1">
            <a:spLocks/>
          </p:cNvSpPr>
          <p:nvPr/>
        </p:nvSpPr>
        <p:spPr>
          <a:xfrm>
            <a:off x="457200" y="4767264"/>
            <a:ext cx="2133600" cy="27384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54EF7B1-8270-4073-9A22-7B0455CD0081}" type="datetime1">
              <a:rPr lang="en-IN" smtClean="0"/>
              <a:pPr/>
              <a:t>26-12-2024</a:t>
            </a:fld>
            <a:endParaRPr lang="en-IN" dirty="0"/>
          </a:p>
        </p:txBody>
      </p:sp>
      <p:pic>
        <p:nvPicPr>
          <p:cNvPr id="31" name="Picture 30">
            <a:extLst>
              <a:ext uri="{FF2B5EF4-FFF2-40B4-BE49-F238E27FC236}">
                <a16:creationId xmlns:a16="http://schemas.microsoft.com/office/drawing/2014/main" id="{BD925AE0-CA54-B34B-DBAD-9813A2AB17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2" name="Content Placeholder 8">
            <a:extLst>
              <a:ext uri="{FF2B5EF4-FFF2-40B4-BE49-F238E27FC236}">
                <a16:creationId xmlns:a16="http://schemas.microsoft.com/office/drawing/2014/main" id="{3E54E30E-061A-61D9-A731-CEC20FE6C887}"/>
              </a:ext>
            </a:extLst>
          </p:cNvPr>
          <p:cNvSpPr txBox="1">
            <a:spLocks/>
          </p:cNvSpPr>
          <p:nvPr/>
        </p:nvSpPr>
        <p:spPr>
          <a:xfrm>
            <a:off x="251520" y="874513"/>
            <a:ext cx="4320480" cy="3785469"/>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IN" sz="1400" b="1" dirty="0">
                <a:latin typeface="Times New Roman" panose="02020603050405020304" pitchFamily="18" charset="0"/>
                <a:cs typeface="Times New Roman" panose="02020603050405020304" pitchFamily="18" charset="0"/>
              </a:rPr>
              <a:t>1. </a:t>
            </a:r>
            <a:r>
              <a:rPr lang="en-IN" sz="1600" b="1" dirty="0">
                <a:latin typeface="Times New Roman" panose="02020603050405020304" pitchFamily="18" charset="0"/>
                <a:cs typeface="Times New Roman" panose="02020603050405020304" pitchFamily="18" charset="0"/>
              </a:rPr>
              <a:t>SOFTWARE REQUIREMENTS: </a:t>
            </a:r>
          </a:p>
          <a:p>
            <a:pPr>
              <a:lnSpc>
                <a:spcPct val="150000"/>
              </a:lnSpc>
              <a:buFont typeface="Wingdings" panose="05000000000000000000" pitchFamily="2" charset="2"/>
              <a:buChar char="v"/>
            </a:pPr>
            <a:r>
              <a:rPr lang="en-IN" sz="1200" dirty="0">
                <a:latin typeface="Times New Roman" panose="02020603050405020304" pitchFamily="18" charset="0"/>
                <a:cs typeface="Times New Roman" panose="02020603050405020304" pitchFamily="18" charset="0"/>
              </a:rPr>
              <a:t>Operating System: Windows / Linux PC</a:t>
            </a:r>
          </a:p>
          <a:p>
            <a:pPr>
              <a:lnSpc>
                <a:spcPct val="150000"/>
              </a:lnSpc>
              <a:buFont typeface="Wingdings" panose="05000000000000000000" pitchFamily="2" charset="2"/>
              <a:buChar char="v"/>
            </a:pPr>
            <a:r>
              <a:rPr lang="en-IN" sz="1200" dirty="0">
                <a:latin typeface="Times New Roman" panose="02020603050405020304" pitchFamily="18" charset="0"/>
                <a:cs typeface="Times New Roman" panose="02020603050405020304" pitchFamily="18" charset="0"/>
              </a:rPr>
              <a:t>Programming Language: </a:t>
            </a:r>
            <a:r>
              <a:rPr lang="en-IN" sz="1200" dirty="0" smtClean="0">
                <a:latin typeface="Times New Roman" panose="02020603050405020304" pitchFamily="18" charset="0"/>
                <a:cs typeface="Times New Roman" panose="02020603050405020304" pitchFamily="18" charset="0"/>
              </a:rPr>
              <a:t>Python 3.8</a:t>
            </a:r>
          </a:p>
          <a:p>
            <a:pPr>
              <a:lnSpc>
                <a:spcPct val="150000"/>
              </a:lnSpc>
              <a:buFont typeface="Wingdings" panose="05000000000000000000" pitchFamily="2" charset="2"/>
              <a:buChar char="v"/>
            </a:pPr>
            <a:r>
              <a:rPr lang="en-IN" sz="1200" dirty="0" smtClean="0">
                <a:latin typeface="Times New Roman" panose="02020603050405020304" pitchFamily="18" charset="0"/>
                <a:cs typeface="Times New Roman" panose="02020603050405020304" pitchFamily="18" charset="0"/>
              </a:rPr>
              <a:t>Front </a:t>
            </a:r>
            <a:r>
              <a:rPr lang="en-IN" sz="1200" dirty="0" err="1" smtClean="0">
                <a:latin typeface="Times New Roman" panose="02020603050405020304" pitchFamily="18" charset="0"/>
                <a:cs typeface="Times New Roman" panose="02020603050405020304" pitchFamily="18" charset="0"/>
              </a:rPr>
              <a:t>End:Anaconda</a:t>
            </a:r>
            <a:r>
              <a:rPr lang="en-IN" sz="1200" dirty="0" smtClean="0">
                <a:latin typeface="Times New Roman" panose="02020603050405020304" pitchFamily="18" charset="0"/>
                <a:cs typeface="Times New Roman" panose="02020603050405020304" pitchFamily="18" charset="0"/>
              </a:rPr>
              <a:t> IDE</a:t>
            </a:r>
          </a:p>
          <a:p>
            <a:pPr>
              <a:lnSpc>
                <a:spcPct val="150000"/>
              </a:lnSpc>
              <a:buFont typeface="Wingdings" panose="05000000000000000000" pitchFamily="2" charset="2"/>
              <a:buChar char="v"/>
            </a:pPr>
            <a:r>
              <a:rPr lang="en-IN" sz="1200" dirty="0" smtClean="0">
                <a:latin typeface="Times New Roman" panose="02020603050405020304" pitchFamily="18" charset="0"/>
                <a:cs typeface="Times New Roman" panose="02020603050405020304" pitchFamily="18" charset="0"/>
              </a:rPr>
              <a:t>Back </a:t>
            </a:r>
            <a:r>
              <a:rPr lang="en-IN" sz="1200" dirty="0" err="1" smtClean="0">
                <a:latin typeface="Times New Roman" panose="02020603050405020304" pitchFamily="18" charset="0"/>
                <a:cs typeface="Times New Roman" panose="02020603050405020304" pitchFamily="18" charset="0"/>
              </a:rPr>
              <a:t>End:SQL</a:t>
            </a:r>
            <a:endParaRPr lang="en-IN" sz="1200" dirty="0" smtClean="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IN" sz="1200" dirty="0" smtClean="0">
                <a:latin typeface="Times New Roman" panose="02020603050405020304" pitchFamily="18" charset="0"/>
                <a:cs typeface="Times New Roman" panose="02020603050405020304" pitchFamily="18" charset="0"/>
              </a:rPr>
              <a:t>Visual Studio</a:t>
            </a:r>
            <a:endParaRPr lang="en-IN" sz="1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IN" sz="1200" dirty="0">
                <a:latin typeface="Times New Roman" panose="02020603050405020304" pitchFamily="18" charset="0"/>
                <a:cs typeface="Times New Roman" panose="02020603050405020304" pitchFamily="18" charset="0"/>
              </a:rPr>
              <a:t>Libraries and Frameworks: </a:t>
            </a:r>
          </a:p>
          <a:p>
            <a:pPr marL="685800" lvl="1">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OpenCV , </a:t>
            </a:r>
            <a:r>
              <a:rPr lang="en-IN" sz="1200" dirty="0" err="1">
                <a:latin typeface="Times New Roman" panose="02020603050405020304" pitchFamily="18" charset="0"/>
                <a:cs typeface="Times New Roman" panose="02020603050405020304" pitchFamily="18" charset="0"/>
              </a:rPr>
              <a:t>NumPy</a:t>
            </a:r>
            <a:r>
              <a:rPr lang="en-IN" sz="1200" dirty="0">
                <a:latin typeface="Times New Roman" panose="02020603050405020304" pitchFamily="18" charset="0"/>
                <a:cs typeface="Times New Roman" panose="02020603050405020304" pitchFamily="18" charset="0"/>
              </a:rPr>
              <a:t> </a:t>
            </a:r>
            <a:endParaRPr lang="en-IN" sz="1200" dirty="0" smtClean="0">
              <a:latin typeface="Times New Roman" panose="02020603050405020304" pitchFamily="18" charset="0"/>
              <a:cs typeface="Times New Roman" panose="02020603050405020304" pitchFamily="18" charset="0"/>
            </a:endParaRPr>
          </a:p>
          <a:p>
            <a:pPr marL="685800" lvl="1">
              <a:lnSpc>
                <a:spcPct val="150000"/>
              </a:lnSpc>
              <a:buFont typeface="Wingdings" panose="05000000000000000000" pitchFamily="2" charset="2"/>
              <a:buChar char="Ø"/>
            </a:pPr>
            <a:r>
              <a:rPr lang="en-IN" sz="1200" dirty="0" smtClean="0">
                <a:latin typeface="Times New Roman" panose="02020603050405020304" pitchFamily="18" charset="0"/>
                <a:cs typeface="Times New Roman" panose="02020603050405020304" pitchFamily="18" charset="0"/>
              </a:rPr>
              <a:t>CUDA Toolkit 11.2</a:t>
            </a:r>
            <a:endParaRPr lang="en-IN" sz="1200" dirty="0">
              <a:latin typeface="Times New Roman" panose="02020603050405020304" pitchFamily="18" charset="0"/>
              <a:cs typeface="Times New Roman" panose="02020603050405020304" pitchFamily="18" charset="0"/>
            </a:endParaRPr>
          </a:p>
          <a:p>
            <a:pPr marL="457200" lvl="1" indent="0" algn="just">
              <a:spcAft>
                <a:spcPts val="800"/>
              </a:spcAft>
              <a:buNone/>
            </a:pPr>
            <a:endParaRPr lang="en-IN" sz="1200" i="0" dirty="0">
              <a:solidFill>
                <a:srgbClr val="0D0D0D"/>
              </a:solidFill>
              <a:effectLst/>
              <a:highlight>
                <a:srgbClr val="FFFFFF"/>
              </a:highlight>
              <a:latin typeface="Times New Roman" panose="02020603050405020304" pitchFamily="18" charset="0"/>
              <a:cs typeface="Times New Roman" panose="02020603050405020304" pitchFamily="18" charset="0"/>
            </a:endParaRPr>
          </a:p>
        </p:txBody>
      </p:sp>
      <p:sp>
        <p:nvSpPr>
          <p:cNvPr id="33" name="Content Placeholder 8">
            <a:extLst>
              <a:ext uri="{FF2B5EF4-FFF2-40B4-BE49-F238E27FC236}">
                <a16:creationId xmlns:a16="http://schemas.microsoft.com/office/drawing/2014/main" id="{94498373-606B-7CA4-65AE-8026AFBF0D9E}"/>
              </a:ext>
            </a:extLst>
          </p:cNvPr>
          <p:cNvSpPr txBox="1">
            <a:spLocks/>
          </p:cNvSpPr>
          <p:nvPr/>
        </p:nvSpPr>
        <p:spPr>
          <a:xfrm>
            <a:off x="3995936" y="1203598"/>
            <a:ext cx="4608512" cy="393990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base">
              <a:buNone/>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478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AA1223-5B62-2234-ECA9-2596EA70FD5F}"/>
              </a:ext>
            </a:extLst>
          </p:cNvPr>
          <p:cNvSpPr>
            <a:spLocks noGrp="1"/>
          </p:cNvSpPr>
          <p:nvPr>
            <p:ph type="dt" sz="half" idx="10"/>
          </p:nvPr>
        </p:nvSpPr>
        <p:spPr/>
        <p:txBody>
          <a:bodyPr/>
          <a:lstStyle/>
          <a:p>
            <a:fld id="{43FD5E6F-4E07-4AB6-BBE1-E8E61011B524}" type="datetime1">
              <a:rPr lang="en-IN" smtClean="0"/>
              <a:pPr/>
              <a:t>26-12-2024</a:t>
            </a:fld>
            <a:endParaRPr lang="en-IN" dirty="0"/>
          </a:p>
        </p:txBody>
      </p:sp>
      <p:sp>
        <p:nvSpPr>
          <p:cNvPr id="3" name="Slide Number Placeholder 2">
            <a:extLst>
              <a:ext uri="{FF2B5EF4-FFF2-40B4-BE49-F238E27FC236}">
                <a16:creationId xmlns:a16="http://schemas.microsoft.com/office/drawing/2014/main" id="{5B93E306-EAB6-74A4-2B45-E1573104B48B}"/>
              </a:ext>
            </a:extLst>
          </p:cNvPr>
          <p:cNvSpPr>
            <a:spLocks noGrp="1"/>
          </p:cNvSpPr>
          <p:nvPr>
            <p:ph type="sldNum" sz="quarter" idx="12"/>
          </p:nvPr>
        </p:nvSpPr>
        <p:spPr/>
        <p:txBody>
          <a:bodyPr/>
          <a:lstStyle/>
          <a:p>
            <a:fld id="{80999B1E-9774-4338-A494-7EE81CDA6832}" type="slidenum">
              <a:rPr lang="en-IN" smtClean="0"/>
              <a:pPr/>
              <a:t>15</a:t>
            </a:fld>
            <a:endParaRPr lang="en-IN" dirty="0"/>
          </a:p>
        </p:txBody>
      </p:sp>
      <p:sp>
        <p:nvSpPr>
          <p:cNvPr id="4" name="TextBox 6">
            <a:extLst>
              <a:ext uri="{FF2B5EF4-FFF2-40B4-BE49-F238E27FC236}">
                <a16:creationId xmlns:a16="http://schemas.microsoft.com/office/drawing/2014/main" id="{F0558098-03B5-F570-F89E-9C8E6121FFA4}"/>
              </a:ext>
            </a:extLst>
          </p:cNvPr>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5" name="Title 1">
            <a:extLst>
              <a:ext uri="{FF2B5EF4-FFF2-40B4-BE49-F238E27FC236}">
                <a16:creationId xmlns:a16="http://schemas.microsoft.com/office/drawing/2014/main" id="{94D450B0-2DFB-6C62-4FC2-9EB8535134BC}"/>
              </a:ext>
            </a:extLst>
          </p:cNvPr>
          <p:cNvSpPr txBox="1">
            <a:spLocks/>
          </p:cNvSpPr>
          <p:nvPr/>
        </p:nvSpPr>
        <p:spPr>
          <a:xfrm>
            <a:off x="457200" y="46107"/>
            <a:ext cx="8229600" cy="49356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1800" b="1" dirty="0">
                <a:solidFill>
                  <a:schemeClr val="bg1"/>
                </a:solidFill>
                <a:latin typeface="Times New Roman" panose="02020603050405020304" pitchFamily="18" charset="0"/>
                <a:cs typeface="Times New Roman" panose="02020603050405020304" pitchFamily="18" charset="0"/>
              </a:rPr>
              <a:t/>
            </a:r>
            <a:br>
              <a:rPr lang="en-IN" sz="18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SYSTEM REQUIREMENT &amp; SPECIFICATIONS</a:t>
            </a:r>
            <a:r>
              <a:rPr lang="en-IN" sz="2000" dirty="0">
                <a:solidFill>
                  <a:schemeClr val="bg1"/>
                </a:solidFill>
                <a:latin typeface="Times New Roman" panose="02020603050405020304" pitchFamily="18" charset="0"/>
                <a:cs typeface="Times New Roman" panose="02020603050405020304" pitchFamily="18" charset="0"/>
              </a:rPr>
              <a:t/>
            </a:r>
            <a:br>
              <a:rPr lang="en-IN" sz="2000" dirty="0">
                <a:solidFill>
                  <a:schemeClr val="bg1"/>
                </a:solidFill>
                <a:latin typeface="Times New Roman" panose="02020603050405020304" pitchFamily="18" charset="0"/>
                <a:cs typeface="Times New Roman" panose="02020603050405020304" pitchFamily="18" charset="0"/>
              </a:rPr>
            </a:b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4">
            <a:extLst>
              <a:ext uri="{FF2B5EF4-FFF2-40B4-BE49-F238E27FC236}">
                <a16:creationId xmlns:a16="http://schemas.microsoft.com/office/drawing/2014/main" id="{B8744023-C3BF-5731-FDD3-61AA10E4568F}"/>
              </a:ext>
            </a:extLst>
          </p:cNvPr>
          <p:cNvSpPr txBox="1">
            <a:spLocks/>
          </p:cNvSpPr>
          <p:nvPr/>
        </p:nvSpPr>
        <p:spPr>
          <a:xfrm>
            <a:off x="6553200" y="4767264"/>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0999B1E-9774-4338-A494-7EE81CDA6832}" type="slidenum">
              <a:rPr lang="en-IN" smtClean="0"/>
              <a:pPr/>
              <a:t>15</a:t>
            </a:fld>
            <a:endParaRPr lang="en-IN" dirty="0"/>
          </a:p>
        </p:txBody>
      </p:sp>
      <p:sp>
        <p:nvSpPr>
          <p:cNvPr id="7" name="Date Placeholder 2">
            <a:extLst>
              <a:ext uri="{FF2B5EF4-FFF2-40B4-BE49-F238E27FC236}">
                <a16:creationId xmlns:a16="http://schemas.microsoft.com/office/drawing/2014/main" id="{7054CC83-F32E-2449-A561-DACC954C413E}"/>
              </a:ext>
            </a:extLst>
          </p:cNvPr>
          <p:cNvSpPr txBox="1">
            <a:spLocks/>
          </p:cNvSpPr>
          <p:nvPr/>
        </p:nvSpPr>
        <p:spPr>
          <a:xfrm>
            <a:off x="457200" y="4767264"/>
            <a:ext cx="2133600" cy="27384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54EF7B1-8270-4073-9A22-7B0455CD0081}" type="datetime1">
              <a:rPr lang="en-IN" smtClean="0"/>
              <a:pPr/>
              <a:t>26-12-2024</a:t>
            </a:fld>
            <a:endParaRPr lang="en-IN" dirty="0"/>
          </a:p>
        </p:txBody>
      </p:sp>
      <p:pic>
        <p:nvPicPr>
          <p:cNvPr id="8" name="Picture 7">
            <a:extLst>
              <a:ext uri="{FF2B5EF4-FFF2-40B4-BE49-F238E27FC236}">
                <a16:creationId xmlns:a16="http://schemas.microsoft.com/office/drawing/2014/main" id="{83CB975D-348C-8FB7-44C2-DD03A344E2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9" name="Content Placeholder 8">
            <a:extLst>
              <a:ext uri="{FF2B5EF4-FFF2-40B4-BE49-F238E27FC236}">
                <a16:creationId xmlns:a16="http://schemas.microsoft.com/office/drawing/2014/main" id="{DCF3F3C8-2688-E372-1382-0DB3901BF96B}"/>
              </a:ext>
            </a:extLst>
          </p:cNvPr>
          <p:cNvSpPr txBox="1">
            <a:spLocks/>
          </p:cNvSpPr>
          <p:nvPr/>
        </p:nvSpPr>
        <p:spPr>
          <a:xfrm>
            <a:off x="457200" y="1101368"/>
            <a:ext cx="6383052" cy="33944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rtl="0" eaLnBrk="1" latinLnBrk="0" hangingPunct="1">
              <a:lnSpc>
                <a:spcPct val="150000"/>
              </a:lnSpc>
              <a:spcBef>
                <a:spcPts val="0"/>
              </a:spcBef>
              <a:spcAft>
                <a:spcPts val="0"/>
              </a:spcAft>
              <a:buNone/>
            </a:pPr>
            <a:r>
              <a:rPr lang="en-IN" sz="1600" b="1" kern="1200" dirty="0">
                <a:solidFill>
                  <a:srgbClr val="000000"/>
                </a:solidFill>
                <a:effectLst/>
                <a:latin typeface="Times New Roman" panose="02020603050405020304" pitchFamily="18" charset="0"/>
                <a:ea typeface="+mn-ea"/>
                <a:cs typeface="Times New Roman" panose="02020603050405020304" pitchFamily="18" charset="0"/>
              </a:rPr>
              <a:t>2. HARDWARE REQUIREMENTS</a:t>
            </a:r>
          </a:p>
          <a:p>
            <a:pPr marL="0" indent="0" algn="just" rtl="0" eaLnBrk="1" latinLnBrk="0" hangingPunct="1">
              <a:lnSpc>
                <a:spcPct val="150000"/>
              </a:lnSpc>
              <a:spcBef>
                <a:spcPts val="0"/>
              </a:spcBef>
              <a:spcAft>
                <a:spcPts val="0"/>
              </a:spcAft>
              <a:buNone/>
            </a:pPr>
            <a:endParaRPr lang="en-IN" sz="1400" b="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0"/>
              </a:spcBef>
              <a:buFont typeface="Wingdings" panose="05000000000000000000" pitchFamily="2" charset="2"/>
              <a:buChar char="v"/>
            </a:pPr>
            <a:r>
              <a:rPr lang="en-IN" sz="12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Processor</a:t>
            </a:r>
            <a:r>
              <a:rPr lang="en-IN" sz="12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I3 and </a:t>
            </a:r>
            <a:r>
              <a:rPr lang="en-US" sz="1200" dirty="0" smtClean="0">
                <a:latin typeface="Times New Roman" panose="02020603050405020304" pitchFamily="18" charset="0"/>
                <a:cs typeface="Times New Roman" panose="02020603050405020304" pitchFamily="18" charset="0"/>
              </a:rPr>
              <a:t>Above</a:t>
            </a:r>
            <a:endParaRPr lang="en-IN" sz="1200" dirty="0"/>
          </a:p>
          <a:p>
            <a:pPr algn="just" rtl="0" eaLnBrk="1" latinLnBrk="0" hangingPunct="1">
              <a:lnSpc>
                <a:spcPct val="150000"/>
              </a:lnSpc>
              <a:spcBef>
                <a:spcPts val="0"/>
              </a:spcBef>
              <a:spcAft>
                <a:spcPts val="0"/>
              </a:spcAft>
              <a:buFont typeface="Wingdings" panose="05000000000000000000" pitchFamily="2" charset="2"/>
              <a:buChar char="v"/>
            </a:pPr>
            <a:r>
              <a:rPr lang="en-IN" sz="12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RAM: 8 GB or more</a:t>
            </a:r>
            <a:endParaRPr lang="en-IN" sz="1200" dirty="0"/>
          </a:p>
          <a:p>
            <a:pPr algn="just" rtl="0" eaLnBrk="1" latinLnBrk="0" hangingPunct="1">
              <a:lnSpc>
                <a:spcPct val="150000"/>
              </a:lnSpc>
              <a:spcBef>
                <a:spcPts val="0"/>
              </a:spcBef>
              <a:spcAft>
                <a:spcPts val="0"/>
              </a:spcAft>
              <a:buFont typeface="Wingdings" panose="05000000000000000000" pitchFamily="2" charset="2"/>
              <a:buChar char="v"/>
            </a:pPr>
            <a:r>
              <a:rPr lang="en-IN" sz="12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Storage: 256 GB SSD or </a:t>
            </a:r>
            <a:r>
              <a:rPr lang="en-IN" sz="12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higher</a:t>
            </a:r>
            <a:endParaRPr lang="en-IN" sz="1200" dirty="0"/>
          </a:p>
          <a:p>
            <a:pPr algn="just" rtl="0" eaLnBrk="1" latinLnBrk="0" hangingPunct="1">
              <a:lnSpc>
                <a:spcPct val="150000"/>
              </a:lnSpc>
              <a:spcBef>
                <a:spcPts val="0"/>
              </a:spcBef>
              <a:spcAft>
                <a:spcPts val="0"/>
              </a:spcAft>
              <a:buFont typeface="Wingdings" panose="05000000000000000000" pitchFamily="2" charset="2"/>
              <a:buChar char="v"/>
            </a:pPr>
            <a:r>
              <a:rPr lang="en-IN" sz="12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Internet Connection: High-speed internet for real-time geospatial analysis and communication with external </a:t>
            </a:r>
            <a:r>
              <a:rPr lang="en-IN" sz="12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database</a:t>
            </a:r>
          </a:p>
          <a:p>
            <a:pPr marL="0" indent="0" fontAlgn="base">
              <a:buNone/>
            </a:pPr>
            <a:endParaRPr lang="en-US" sz="1200" dirty="0">
              <a:latin typeface="Times New Roman" panose="02020603050405020304" pitchFamily="18" charset="0"/>
              <a:cs typeface="Times New Roman" panose="02020603050405020304" pitchFamily="18" charset="0"/>
            </a:endParaRPr>
          </a:p>
          <a:p>
            <a:pPr algn="just" rtl="0" eaLnBrk="1" latinLnBrk="0" hangingPunct="1">
              <a:lnSpc>
                <a:spcPct val="150000"/>
              </a:lnSpc>
              <a:spcBef>
                <a:spcPts val="0"/>
              </a:spcBef>
              <a:spcAft>
                <a:spcPts val="0"/>
              </a:spcAft>
              <a:buFont typeface="Wingdings" panose="05000000000000000000" pitchFamily="2" charset="2"/>
              <a:buChar char="v"/>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626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36380" cy="843558"/>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29600"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SYSTEM DESIGN</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16</a:t>
            </a:fld>
            <a:endParaRPr lang="en-IN" dirty="0"/>
          </a:p>
        </p:txBody>
      </p:sp>
      <p:sp>
        <p:nvSpPr>
          <p:cNvPr id="3" name="Date Placeholder 2"/>
          <p:cNvSpPr>
            <a:spLocks noGrp="1"/>
          </p:cNvSpPr>
          <p:nvPr>
            <p:ph type="dt" sz="half" idx="10"/>
          </p:nvPr>
        </p:nvSpPr>
        <p:spPr/>
        <p:txBody>
          <a:bodyPr/>
          <a:lstStyle/>
          <a:p>
            <a:fld id="{4E37164C-B7EC-4E27-8B3C-7D2F6E0182FC}" type="datetime1">
              <a:rPr lang="en-IN" smtClean="0"/>
              <a:pPr/>
              <a:t>26-12-2024</a:t>
            </a:fld>
            <a:endParaRPr lang="en-IN" dirty="0"/>
          </a:p>
        </p:txBody>
      </p:sp>
      <p:pic>
        <p:nvPicPr>
          <p:cNvPr id="8" name="Picture 7">
            <a:extLst>
              <a:ext uri="{FF2B5EF4-FFF2-40B4-BE49-F238E27FC236}">
                <a16:creationId xmlns:a16="http://schemas.microsoft.com/office/drawing/2014/main" id="{9A741804-B1EC-D60F-453D-11FB44A92E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TextBox 3">
            <a:extLst>
              <a:ext uri="{FF2B5EF4-FFF2-40B4-BE49-F238E27FC236}">
                <a16:creationId xmlns:a16="http://schemas.microsoft.com/office/drawing/2014/main" id="{5B219C92-416C-088C-4B19-5F02C81A220D}"/>
              </a:ext>
            </a:extLst>
          </p:cNvPr>
          <p:cNvSpPr txBox="1"/>
          <p:nvPr/>
        </p:nvSpPr>
        <p:spPr>
          <a:xfrm>
            <a:off x="179512" y="1203598"/>
            <a:ext cx="2592288" cy="523220"/>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1. SYSTEM ARCHITECHTURE</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1203598"/>
            <a:ext cx="6326856" cy="3416682"/>
          </a:xfrm>
          <a:prstGeom prst="rect">
            <a:avLst/>
          </a:prstGeom>
        </p:spPr>
      </p:pic>
    </p:spTree>
    <p:extLst>
      <p:ext uri="{BB962C8B-B14F-4D97-AF65-F5344CB8AC3E}">
        <p14:creationId xmlns:p14="http://schemas.microsoft.com/office/powerpoint/2010/main" val="172797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36380" cy="843558"/>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18805"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SYSTEM DESIGN</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17</a:t>
            </a:fld>
            <a:endParaRPr lang="en-IN" dirty="0"/>
          </a:p>
        </p:txBody>
      </p:sp>
      <p:sp>
        <p:nvSpPr>
          <p:cNvPr id="3" name="Date Placeholder 2"/>
          <p:cNvSpPr>
            <a:spLocks noGrp="1"/>
          </p:cNvSpPr>
          <p:nvPr>
            <p:ph type="dt" sz="half" idx="10"/>
          </p:nvPr>
        </p:nvSpPr>
        <p:spPr/>
        <p:txBody>
          <a:bodyPr/>
          <a:lstStyle/>
          <a:p>
            <a:fld id="{4E37164C-B7EC-4E27-8B3C-7D2F6E0182FC}" type="datetime1">
              <a:rPr lang="en-IN" smtClean="0"/>
              <a:pPr/>
              <a:t>26-12-2024</a:t>
            </a:fld>
            <a:endParaRPr lang="en-IN" dirty="0"/>
          </a:p>
        </p:txBody>
      </p:sp>
      <p:pic>
        <p:nvPicPr>
          <p:cNvPr id="4" name="Picture 3">
            <a:extLst>
              <a:ext uri="{FF2B5EF4-FFF2-40B4-BE49-F238E27FC236}">
                <a16:creationId xmlns:a16="http://schemas.microsoft.com/office/drawing/2014/main" id="{6DDE0E8B-4C57-387D-15CB-78DCF7D0C9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6" name="TextBox 5">
            <a:extLst>
              <a:ext uri="{FF2B5EF4-FFF2-40B4-BE49-F238E27FC236}">
                <a16:creationId xmlns:a16="http://schemas.microsoft.com/office/drawing/2014/main" id="{881D39EB-0920-1C98-B7A9-A279A0788EBD}"/>
              </a:ext>
            </a:extLst>
          </p:cNvPr>
          <p:cNvSpPr txBox="1"/>
          <p:nvPr/>
        </p:nvSpPr>
        <p:spPr>
          <a:xfrm>
            <a:off x="107504" y="915566"/>
            <a:ext cx="2483296" cy="30777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2. DATA FLOW DIAGRAM</a:t>
            </a:r>
          </a:p>
        </p:txBody>
      </p:sp>
      <p:sp>
        <p:nvSpPr>
          <p:cNvPr id="14" name="Rectangle 13"/>
          <p:cNvSpPr/>
          <p:nvPr/>
        </p:nvSpPr>
        <p:spPr>
          <a:xfrm>
            <a:off x="1470308" y="1362200"/>
            <a:ext cx="100811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1" name="Rectangle 20"/>
          <p:cNvSpPr/>
          <p:nvPr/>
        </p:nvSpPr>
        <p:spPr>
          <a:xfrm>
            <a:off x="3704315" y="1372876"/>
            <a:ext cx="1499915" cy="4320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2" name="Rectangle 21"/>
          <p:cNvSpPr/>
          <p:nvPr/>
        </p:nvSpPr>
        <p:spPr>
          <a:xfrm>
            <a:off x="6292235" y="1323642"/>
            <a:ext cx="12241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22"/>
          <p:cNvSpPr/>
          <p:nvPr/>
        </p:nvSpPr>
        <p:spPr>
          <a:xfrm>
            <a:off x="6268650" y="3173928"/>
            <a:ext cx="1512168"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4" name="Rectangle 23"/>
          <p:cNvSpPr/>
          <p:nvPr/>
        </p:nvSpPr>
        <p:spPr>
          <a:xfrm>
            <a:off x="3884114" y="3135443"/>
            <a:ext cx="136815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5" name="TextBox 24"/>
          <p:cNvSpPr txBox="1"/>
          <p:nvPr/>
        </p:nvSpPr>
        <p:spPr>
          <a:xfrm flipH="1">
            <a:off x="1524000" y="1429562"/>
            <a:ext cx="125042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Input</a:t>
            </a:r>
            <a:endParaRPr lang="en-IN" dirty="0">
              <a:latin typeface="Times New Roman" panose="02020603050405020304" pitchFamily="18" charset="0"/>
              <a:cs typeface="Times New Roman" panose="02020603050405020304" pitchFamily="18" charset="0"/>
            </a:endParaRPr>
          </a:p>
        </p:txBody>
      </p:sp>
      <p:sp>
        <p:nvSpPr>
          <p:cNvPr id="27" name="TextBox 26"/>
          <p:cNvSpPr txBox="1"/>
          <p:nvPr/>
        </p:nvSpPr>
        <p:spPr>
          <a:xfrm flipH="1">
            <a:off x="3702872" y="1408624"/>
            <a:ext cx="2128692"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p:txBody>
      </p:sp>
      <p:sp>
        <p:nvSpPr>
          <p:cNvPr id="28" name="TextBox 27"/>
          <p:cNvSpPr txBox="1"/>
          <p:nvPr/>
        </p:nvSpPr>
        <p:spPr>
          <a:xfrm>
            <a:off x="6343137" y="1265734"/>
            <a:ext cx="1751139" cy="646331"/>
          </a:xfrm>
          <a:prstGeom prst="rect">
            <a:avLst/>
          </a:prstGeom>
          <a:noFill/>
        </p:spPr>
        <p:txBody>
          <a:bodyPr wrap="square" rtlCol="0">
            <a:spAutoFit/>
          </a:bodyPr>
          <a:lstStyle/>
          <a:p>
            <a:r>
              <a:rPr lang="en-IN" dirty="0" smtClean="0"/>
              <a:t>Feature </a:t>
            </a:r>
            <a:r>
              <a:rPr lang="en-IN" dirty="0" smtClean="0">
                <a:latin typeface="Times New Roman" panose="02020603050405020304" pitchFamily="18" charset="0"/>
                <a:cs typeface="Times New Roman" panose="02020603050405020304" pitchFamily="18" charset="0"/>
              </a:rPr>
              <a:t>Extraction</a:t>
            </a:r>
            <a:endParaRPr lang="en-IN"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6343137" y="3097286"/>
            <a:ext cx="1872208" cy="646331"/>
          </a:xfrm>
          <a:prstGeom prst="rect">
            <a:avLst/>
          </a:prstGeom>
          <a:noFill/>
        </p:spPr>
        <p:txBody>
          <a:bodyPr wrap="square" rtlCol="0">
            <a:spAutoFit/>
          </a:bodyPr>
          <a:lstStyle/>
          <a:p>
            <a:r>
              <a:rPr lang="en-IN" dirty="0" smtClean="0"/>
              <a:t>Classification using SVM</a:t>
            </a:r>
            <a:endParaRPr lang="en-IN" dirty="0"/>
          </a:p>
        </p:txBody>
      </p:sp>
      <p:sp>
        <p:nvSpPr>
          <p:cNvPr id="30" name="TextBox 29"/>
          <p:cNvSpPr txBox="1"/>
          <p:nvPr/>
        </p:nvSpPr>
        <p:spPr>
          <a:xfrm>
            <a:off x="4163036" y="3202805"/>
            <a:ext cx="1208363"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p:txBody>
      </p:sp>
      <p:cxnSp>
        <p:nvCxnSpPr>
          <p:cNvPr id="32" name="Straight Arrow Connector 31"/>
          <p:cNvCxnSpPr>
            <a:endCxn id="27" idx="3"/>
          </p:cNvCxnSpPr>
          <p:nvPr/>
        </p:nvCxnSpPr>
        <p:spPr>
          <a:xfrm flipV="1">
            <a:off x="2478420" y="1593290"/>
            <a:ext cx="1224452" cy="209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p:cNvCxnSpPr>
            <a:endCxn id="22" idx="1"/>
          </p:cNvCxnSpPr>
          <p:nvPr/>
        </p:nvCxnSpPr>
        <p:spPr>
          <a:xfrm>
            <a:off x="5204230" y="1575670"/>
            <a:ext cx="10880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p:cNvCxnSpPr/>
          <p:nvPr/>
        </p:nvCxnSpPr>
        <p:spPr>
          <a:xfrm>
            <a:off x="6904303" y="1827698"/>
            <a:ext cx="0" cy="13462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p:cNvCxnSpPr>
            <a:stCxn id="23" idx="1"/>
          </p:cNvCxnSpPr>
          <p:nvPr/>
        </p:nvCxnSpPr>
        <p:spPr>
          <a:xfrm flipH="1">
            <a:off x="5204230" y="3425956"/>
            <a:ext cx="106442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3133055" y="4158981"/>
            <a:ext cx="3430095"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FIG 2: DATA FLOW DIAGRAM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971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13961"/>
            <a:ext cx="9136380" cy="843558"/>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18805"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SYSTEM DESIGN</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18</a:t>
            </a:fld>
            <a:endParaRPr lang="en-IN" dirty="0"/>
          </a:p>
        </p:txBody>
      </p:sp>
      <p:sp>
        <p:nvSpPr>
          <p:cNvPr id="3" name="Date Placeholder 2"/>
          <p:cNvSpPr>
            <a:spLocks noGrp="1"/>
          </p:cNvSpPr>
          <p:nvPr>
            <p:ph type="dt" sz="half" idx="10"/>
          </p:nvPr>
        </p:nvSpPr>
        <p:spPr/>
        <p:txBody>
          <a:bodyPr/>
          <a:lstStyle/>
          <a:p>
            <a:fld id="{4E37164C-B7EC-4E27-8B3C-7D2F6E0182FC}" type="datetime1">
              <a:rPr lang="en-IN" smtClean="0"/>
              <a:pPr/>
              <a:t>26-12-2024</a:t>
            </a:fld>
            <a:endParaRPr lang="en-IN" dirty="0"/>
          </a:p>
        </p:txBody>
      </p:sp>
      <p:pic>
        <p:nvPicPr>
          <p:cNvPr id="4" name="Picture 3">
            <a:extLst>
              <a:ext uri="{FF2B5EF4-FFF2-40B4-BE49-F238E27FC236}">
                <a16:creationId xmlns:a16="http://schemas.microsoft.com/office/drawing/2014/main" id="{6DDE0E8B-4C57-387D-15CB-78DCF7D0C9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6" name="TextBox 5">
            <a:extLst>
              <a:ext uri="{FF2B5EF4-FFF2-40B4-BE49-F238E27FC236}">
                <a16:creationId xmlns:a16="http://schemas.microsoft.com/office/drawing/2014/main" id="{445A29B9-E7D0-B3FE-FCB9-019CF4710A1A}"/>
              </a:ext>
            </a:extLst>
          </p:cNvPr>
          <p:cNvSpPr txBox="1"/>
          <p:nvPr/>
        </p:nvSpPr>
        <p:spPr>
          <a:xfrm>
            <a:off x="179512" y="987574"/>
            <a:ext cx="3528392" cy="30777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3. SEQUENCE FLOW DIAGRAM</a:t>
            </a:r>
          </a:p>
        </p:txBody>
      </p:sp>
      <p:sp>
        <p:nvSpPr>
          <p:cNvPr id="14" name="Rectangle 13"/>
          <p:cNvSpPr/>
          <p:nvPr/>
        </p:nvSpPr>
        <p:spPr>
          <a:xfrm>
            <a:off x="1331640" y="1851670"/>
            <a:ext cx="216024" cy="26642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2411760" y="1871612"/>
            <a:ext cx="17904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2411760" y="2589387"/>
            <a:ext cx="179040" cy="3878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4067944" y="2611437"/>
            <a:ext cx="216024" cy="365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4067944" y="3147814"/>
            <a:ext cx="21602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4067944" y="3867894"/>
            <a:ext cx="21602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5652120" y="3147814"/>
            <a:ext cx="21602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7308304" y="3867894"/>
            <a:ext cx="21602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Arrow Connector 24"/>
          <p:cNvCxnSpPr>
            <a:endCxn id="15" idx="0"/>
          </p:cNvCxnSpPr>
          <p:nvPr/>
        </p:nvCxnSpPr>
        <p:spPr>
          <a:xfrm>
            <a:off x="1547664" y="1851670"/>
            <a:ext cx="953616" cy="199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a:endCxn id="17" idx="0"/>
          </p:cNvCxnSpPr>
          <p:nvPr/>
        </p:nvCxnSpPr>
        <p:spPr>
          <a:xfrm>
            <a:off x="2590800" y="2589387"/>
            <a:ext cx="1585156" cy="22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1"/>
            <a:endCxn id="18" idx="3"/>
          </p:cNvCxnSpPr>
          <p:nvPr/>
        </p:nvCxnSpPr>
        <p:spPr>
          <a:xfrm flipH="1">
            <a:off x="4283968" y="3327834"/>
            <a:ext cx="1368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a:off x="4175956" y="3867894"/>
            <a:ext cx="31323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18" idx="0"/>
          </p:cNvCxnSpPr>
          <p:nvPr/>
        </p:nvCxnSpPr>
        <p:spPr>
          <a:xfrm flipV="1">
            <a:off x="4175956" y="3144919"/>
            <a:ext cx="1566174" cy="28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a:off x="2501280" y="1637519"/>
            <a:ext cx="0" cy="21415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p:cNvCxnSpPr>
            <a:endCxn id="16" idx="0"/>
          </p:cNvCxnSpPr>
          <p:nvPr/>
        </p:nvCxnSpPr>
        <p:spPr>
          <a:xfrm>
            <a:off x="2501280" y="2303660"/>
            <a:ext cx="0" cy="28572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Straight Connector 49"/>
          <p:cNvCxnSpPr/>
          <p:nvPr/>
        </p:nvCxnSpPr>
        <p:spPr>
          <a:xfrm>
            <a:off x="2501280" y="2977270"/>
            <a:ext cx="0" cy="139468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Straight Connector 51"/>
          <p:cNvCxnSpPr>
            <a:endCxn id="17" idx="0"/>
          </p:cNvCxnSpPr>
          <p:nvPr/>
        </p:nvCxnSpPr>
        <p:spPr>
          <a:xfrm>
            <a:off x="4175956" y="1637519"/>
            <a:ext cx="0" cy="97391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4" name="Straight Connector 53"/>
          <p:cNvCxnSpPr>
            <a:endCxn id="18" idx="0"/>
          </p:cNvCxnSpPr>
          <p:nvPr/>
        </p:nvCxnSpPr>
        <p:spPr>
          <a:xfrm>
            <a:off x="4175956" y="2977270"/>
            <a:ext cx="0" cy="1705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6" name="Straight Connector 55"/>
          <p:cNvCxnSpPr>
            <a:stCxn id="18" idx="2"/>
            <a:endCxn id="19" idx="0"/>
          </p:cNvCxnSpPr>
          <p:nvPr/>
        </p:nvCxnSpPr>
        <p:spPr>
          <a:xfrm>
            <a:off x="4175956" y="3507854"/>
            <a:ext cx="0" cy="3600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p:cNvCxnSpPr/>
          <p:nvPr/>
        </p:nvCxnSpPr>
        <p:spPr>
          <a:xfrm>
            <a:off x="4121950" y="4155926"/>
            <a:ext cx="0" cy="21602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Straight Connector 61"/>
          <p:cNvCxnSpPr/>
          <p:nvPr/>
        </p:nvCxnSpPr>
        <p:spPr>
          <a:xfrm>
            <a:off x="5742130" y="1637519"/>
            <a:ext cx="0" cy="144782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4" name="Straight Connector 63"/>
          <p:cNvCxnSpPr/>
          <p:nvPr/>
        </p:nvCxnSpPr>
        <p:spPr>
          <a:xfrm flipH="1">
            <a:off x="5755632" y="3521815"/>
            <a:ext cx="4500" cy="73982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Straight Connector 65"/>
          <p:cNvCxnSpPr/>
          <p:nvPr/>
        </p:nvCxnSpPr>
        <p:spPr>
          <a:xfrm>
            <a:off x="7380312" y="1637519"/>
            <a:ext cx="0" cy="215836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8" name="Straight Connector 67"/>
          <p:cNvCxnSpPr>
            <a:stCxn id="21" idx="2"/>
          </p:cNvCxnSpPr>
          <p:nvPr/>
        </p:nvCxnSpPr>
        <p:spPr>
          <a:xfrm>
            <a:off x="7416316" y="4155926"/>
            <a:ext cx="0" cy="10571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5" name="TextBox 74"/>
          <p:cNvSpPr txBox="1"/>
          <p:nvPr/>
        </p:nvSpPr>
        <p:spPr>
          <a:xfrm flipH="1">
            <a:off x="2028594" y="1357484"/>
            <a:ext cx="1124411" cy="253916"/>
          </a:xfrm>
          <a:prstGeom prst="rect">
            <a:avLst/>
          </a:prstGeom>
          <a:noFill/>
        </p:spPr>
        <p:txBody>
          <a:bodyPr wrap="square" rtlCol="0">
            <a:spAutoFit/>
          </a:bodyPr>
          <a:lstStyle/>
          <a:p>
            <a:r>
              <a:rPr lang="en-IN" sz="1050" dirty="0" smtClean="0"/>
              <a:t>Transaction</a:t>
            </a:r>
            <a:endParaRPr lang="en-IN" dirty="0"/>
          </a:p>
        </p:txBody>
      </p:sp>
      <p:sp>
        <p:nvSpPr>
          <p:cNvPr id="76" name="TextBox 75"/>
          <p:cNvSpPr txBox="1"/>
          <p:nvPr/>
        </p:nvSpPr>
        <p:spPr>
          <a:xfrm flipH="1">
            <a:off x="3713579" y="1377104"/>
            <a:ext cx="1004001" cy="246221"/>
          </a:xfrm>
          <a:prstGeom prst="rect">
            <a:avLst/>
          </a:prstGeom>
          <a:noFill/>
        </p:spPr>
        <p:txBody>
          <a:bodyPr wrap="square" rtlCol="0">
            <a:spAutoFit/>
          </a:bodyPr>
          <a:lstStyle/>
          <a:p>
            <a:r>
              <a:rPr lang="en-IN" sz="1000" dirty="0" smtClean="0"/>
              <a:t>Verification</a:t>
            </a:r>
            <a:endParaRPr lang="en-IN" sz="1000" dirty="0"/>
          </a:p>
        </p:txBody>
      </p:sp>
      <p:sp>
        <p:nvSpPr>
          <p:cNvPr id="77" name="TextBox 76"/>
          <p:cNvSpPr txBox="1"/>
          <p:nvPr/>
        </p:nvSpPr>
        <p:spPr>
          <a:xfrm flipH="1">
            <a:off x="5459985" y="1370503"/>
            <a:ext cx="1064801" cy="246221"/>
          </a:xfrm>
          <a:prstGeom prst="rect">
            <a:avLst/>
          </a:prstGeom>
          <a:noFill/>
        </p:spPr>
        <p:txBody>
          <a:bodyPr wrap="square" rtlCol="0">
            <a:spAutoFit/>
          </a:bodyPr>
          <a:lstStyle/>
          <a:p>
            <a:r>
              <a:rPr lang="en-IN" sz="1000" dirty="0" smtClean="0"/>
              <a:t>Security</a:t>
            </a:r>
            <a:endParaRPr lang="en-IN" dirty="0"/>
          </a:p>
        </p:txBody>
      </p:sp>
      <p:sp>
        <p:nvSpPr>
          <p:cNvPr id="78" name="TextBox 77"/>
          <p:cNvSpPr txBox="1"/>
          <p:nvPr/>
        </p:nvSpPr>
        <p:spPr>
          <a:xfrm>
            <a:off x="7038588" y="1319290"/>
            <a:ext cx="755455" cy="246221"/>
          </a:xfrm>
          <a:prstGeom prst="rect">
            <a:avLst/>
          </a:prstGeom>
          <a:noFill/>
        </p:spPr>
        <p:txBody>
          <a:bodyPr wrap="square" rtlCol="0">
            <a:spAutoFit/>
          </a:bodyPr>
          <a:lstStyle/>
          <a:p>
            <a:r>
              <a:rPr lang="en-IN" sz="1000" dirty="0" smtClean="0"/>
              <a:t>Complete</a:t>
            </a:r>
            <a:endParaRPr lang="en-IN" dirty="0"/>
          </a:p>
        </p:txBody>
      </p:sp>
      <p:sp>
        <p:nvSpPr>
          <p:cNvPr id="79" name="TextBox 78"/>
          <p:cNvSpPr txBox="1"/>
          <p:nvPr/>
        </p:nvSpPr>
        <p:spPr>
          <a:xfrm>
            <a:off x="6964211" y="1399227"/>
            <a:ext cx="1333576" cy="246221"/>
          </a:xfrm>
          <a:prstGeom prst="rect">
            <a:avLst/>
          </a:prstGeom>
          <a:noFill/>
        </p:spPr>
        <p:txBody>
          <a:bodyPr wrap="square" rtlCol="0">
            <a:spAutoFit/>
          </a:bodyPr>
          <a:lstStyle/>
          <a:p>
            <a:r>
              <a:rPr lang="en-IN" sz="1000" dirty="0" smtClean="0"/>
              <a:t>Transaction</a:t>
            </a:r>
            <a:endParaRPr lang="en-IN" dirty="0"/>
          </a:p>
        </p:txBody>
      </p:sp>
      <p:sp>
        <p:nvSpPr>
          <p:cNvPr id="80" name="TextBox 79"/>
          <p:cNvSpPr txBox="1"/>
          <p:nvPr/>
        </p:nvSpPr>
        <p:spPr>
          <a:xfrm flipH="1">
            <a:off x="1643412" y="1684945"/>
            <a:ext cx="723754" cy="230832"/>
          </a:xfrm>
          <a:prstGeom prst="rect">
            <a:avLst/>
          </a:prstGeom>
          <a:noFill/>
        </p:spPr>
        <p:txBody>
          <a:bodyPr wrap="square" rtlCol="0">
            <a:spAutoFit/>
          </a:bodyPr>
          <a:lstStyle/>
          <a:p>
            <a:r>
              <a:rPr lang="en-IN" sz="900" dirty="0" smtClean="0"/>
              <a:t>Login Info</a:t>
            </a:r>
            <a:endParaRPr lang="en-IN" sz="900" dirty="0"/>
          </a:p>
        </p:txBody>
      </p:sp>
      <p:sp>
        <p:nvSpPr>
          <p:cNvPr id="81" name="TextBox 80"/>
          <p:cNvSpPr txBox="1"/>
          <p:nvPr/>
        </p:nvSpPr>
        <p:spPr>
          <a:xfrm>
            <a:off x="2762740" y="2413581"/>
            <a:ext cx="1269855" cy="246221"/>
          </a:xfrm>
          <a:prstGeom prst="rect">
            <a:avLst/>
          </a:prstGeom>
          <a:noFill/>
        </p:spPr>
        <p:txBody>
          <a:bodyPr wrap="square" rtlCol="0">
            <a:spAutoFit/>
          </a:bodyPr>
          <a:lstStyle/>
          <a:p>
            <a:r>
              <a:rPr lang="en-IN" sz="1000" dirty="0" smtClean="0"/>
              <a:t>Transaction Details</a:t>
            </a:r>
            <a:endParaRPr lang="en-IN" sz="1000" dirty="0"/>
          </a:p>
        </p:txBody>
      </p:sp>
      <p:sp>
        <p:nvSpPr>
          <p:cNvPr id="82" name="TextBox 81"/>
          <p:cNvSpPr txBox="1"/>
          <p:nvPr/>
        </p:nvSpPr>
        <p:spPr>
          <a:xfrm>
            <a:off x="4544996" y="2916692"/>
            <a:ext cx="1044116" cy="246221"/>
          </a:xfrm>
          <a:prstGeom prst="rect">
            <a:avLst/>
          </a:prstGeom>
          <a:noFill/>
        </p:spPr>
        <p:txBody>
          <a:bodyPr wrap="square" rtlCol="0">
            <a:spAutoFit/>
          </a:bodyPr>
          <a:lstStyle/>
          <a:p>
            <a:r>
              <a:rPr lang="en-IN" sz="1000" dirty="0" smtClean="0"/>
              <a:t>Security Info</a:t>
            </a:r>
            <a:endParaRPr lang="en-IN" sz="1000" dirty="0"/>
          </a:p>
        </p:txBody>
      </p:sp>
      <p:sp>
        <p:nvSpPr>
          <p:cNvPr id="83" name="TextBox 82"/>
          <p:cNvSpPr txBox="1"/>
          <p:nvPr/>
        </p:nvSpPr>
        <p:spPr>
          <a:xfrm flipH="1">
            <a:off x="4676398" y="3296051"/>
            <a:ext cx="855036" cy="246221"/>
          </a:xfrm>
          <a:prstGeom prst="rect">
            <a:avLst/>
          </a:prstGeom>
          <a:noFill/>
        </p:spPr>
        <p:txBody>
          <a:bodyPr wrap="square" rtlCol="0">
            <a:spAutoFit/>
          </a:bodyPr>
          <a:lstStyle/>
          <a:p>
            <a:r>
              <a:rPr lang="en-IN" sz="1000" dirty="0" smtClean="0"/>
              <a:t>Result</a:t>
            </a:r>
            <a:endParaRPr lang="en-IN" sz="1000" dirty="0"/>
          </a:p>
        </p:txBody>
      </p:sp>
      <p:sp>
        <p:nvSpPr>
          <p:cNvPr id="84" name="TextBox 83"/>
          <p:cNvSpPr txBox="1"/>
          <p:nvPr/>
        </p:nvSpPr>
        <p:spPr>
          <a:xfrm flipH="1">
            <a:off x="5067054" y="3650836"/>
            <a:ext cx="1561549" cy="246221"/>
          </a:xfrm>
          <a:prstGeom prst="rect">
            <a:avLst/>
          </a:prstGeom>
          <a:noFill/>
        </p:spPr>
        <p:txBody>
          <a:bodyPr wrap="square" rtlCol="0">
            <a:spAutoFit/>
          </a:bodyPr>
          <a:lstStyle/>
          <a:p>
            <a:r>
              <a:rPr lang="en-IN" sz="1000" dirty="0" smtClean="0"/>
              <a:t>Verification Details</a:t>
            </a:r>
            <a:endParaRPr lang="en-IN" sz="1000" dirty="0"/>
          </a:p>
        </p:txBody>
      </p:sp>
      <p:sp>
        <p:nvSpPr>
          <p:cNvPr id="92" name="Down Arrow 91"/>
          <p:cNvSpPr/>
          <p:nvPr/>
        </p:nvSpPr>
        <p:spPr>
          <a:xfrm>
            <a:off x="2458387" y="4302585"/>
            <a:ext cx="107711" cy="100440"/>
          </a:xfrm>
          <a:prstGeom prst="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p>
        </p:txBody>
      </p:sp>
      <p:sp>
        <p:nvSpPr>
          <p:cNvPr id="94" name="Oval 93"/>
          <p:cNvSpPr/>
          <p:nvPr/>
        </p:nvSpPr>
        <p:spPr>
          <a:xfrm>
            <a:off x="1331640" y="1295351"/>
            <a:ext cx="108012" cy="10387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96" name="Straight Connector 95"/>
          <p:cNvCxnSpPr>
            <a:stCxn id="94" idx="4"/>
          </p:cNvCxnSpPr>
          <p:nvPr/>
        </p:nvCxnSpPr>
        <p:spPr>
          <a:xfrm>
            <a:off x="1385646" y="1399227"/>
            <a:ext cx="0" cy="224098"/>
          </a:xfrm>
          <a:prstGeom prst="line">
            <a:avLst/>
          </a:prstGeom>
        </p:spPr>
        <p:style>
          <a:lnRef idx="2">
            <a:schemeClr val="dk1"/>
          </a:lnRef>
          <a:fillRef idx="0">
            <a:schemeClr val="dk1"/>
          </a:fillRef>
          <a:effectRef idx="1">
            <a:schemeClr val="dk1"/>
          </a:effectRef>
          <a:fontRef idx="minor">
            <a:schemeClr val="tx1"/>
          </a:fontRef>
        </p:style>
      </p:cxnSp>
      <p:cxnSp>
        <p:nvCxnSpPr>
          <p:cNvPr id="98" name="Straight Connector 97"/>
          <p:cNvCxnSpPr/>
          <p:nvPr/>
        </p:nvCxnSpPr>
        <p:spPr>
          <a:xfrm flipV="1">
            <a:off x="1259632" y="1500214"/>
            <a:ext cx="126014" cy="65297"/>
          </a:xfrm>
          <a:prstGeom prst="line">
            <a:avLst/>
          </a:prstGeom>
        </p:spPr>
        <p:style>
          <a:lnRef idx="2">
            <a:schemeClr val="dk1"/>
          </a:lnRef>
          <a:fillRef idx="0">
            <a:schemeClr val="dk1"/>
          </a:fillRef>
          <a:effectRef idx="1">
            <a:schemeClr val="dk1"/>
          </a:effectRef>
          <a:fontRef idx="minor">
            <a:schemeClr val="tx1"/>
          </a:fontRef>
        </p:style>
      </p:cxnSp>
      <p:cxnSp>
        <p:nvCxnSpPr>
          <p:cNvPr id="100" name="Straight Connector 99"/>
          <p:cNvCxnSpPr/>
          <p:nvPr/>
        </p:nvCxnSpPr>
        <p:spPr>
          <a:xfrm>
            <a:off x="1385646" y="1500214"/>
            <a:ext cx="126014" cy="65297"/>
          </a:xfrm>
          <a:prstGeom prst="line">
            <a:avLst/>
          </a:prstGeom>
        </p:spPr>
        <p:style>
          <a:lnRef idx="2">
            <a:schemeClr val="dk1"/>
          </a:lnRef>
          <a:fillRef idx="0">
            <a:schemeClr val="dk1"/>
          </a:fillRef>
          <a:effectRef idx="1">
            <a:schemeClr val="dk1"/>
          </a:effectRef>
          <a:fontRef idx="minor">
            <a:schemeClr val="tx1"/>
          </a:fontRef>
        </p:style>
      </p:cxnSp>
      <p:sp>
        <p:nvSpPr>
          <p:cNvPr id="102" name="TextBox 101"/>
          <p:cNvSpPr txBox="1"/>
          <p:nvPr/>
        </p:nvSpPr>
        <p:spPr>
          <a:xfrm flipH="1">
            <a:off x="1192403" y="1571281"/>
            <a:ext cx="1066751" cy="246221"/>
          </a:xfrm>
          <a:prstGeom prst="rect">
            <a:avLst/>
          </a:prstGeom>
          <a:noFill/>
        </p:spPr>
        <p:txBody>
          <a:bodyPr wrap="square" rtlCol="0">
            <a:spAutoFit/>
          </a:bodyPr>
          <a:lstStyle/>
          <a:p>
            <a:r>
              <a:rPr lang="en-IN" sz="1000" dirty="0" smtClean="0"/>
              <a:t>User</a:t>
            </a:r>
            <a:endParaRPr lang="en-IN" sz="1000" dirty="0"/>
          </a:p>
        </p:txBody>
      </p:sp>
      <p:cxnSp>
        <p:nvCxnSpPr>
          <p:cNvPr id="104" name="Elbow Connector 103"/>
          <p:cNvCxnSpPr/>
          <p:nvPr/>
        </p:nvCxnSpPr>
        <p:spPr>
          <a:xfrm rot="16200000" flipH="1">
            <a:off x="2280586" y="958476"/>
            <a:ext cx="314932" cy="988685"/>
          </a:xfrm>
          <a:prstGeom prst="bentConnector2">
            <a:avLst/>
          </a:prstGeom>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1951997" y="1319290"/>
            <a:ext cx="972108" cy="0"/>
          </a:xfrm>
          <a:prstGeom prst="line">
            <a:avLst/>
          </a:prstGeom>
        </p:spPr>
        <p:style>
          <a:lnRef idx="1">
            <a:schemeClr val="dk1"/>
          </a:lnRef>
          <a:fillRef idx="0">
            <a:schemeClr val="dk1"/>
          </a:fillRef>
          <a:effectRef idx="0">
            <a:schemeClr val="dk1"/>
          </a:effectRef>
          <a:fontRef idx="minor">
            <a:schemeClr val="tx1"/>
          </a:fontRef>
        </p:style>
      </p:cxnSp>
      <p:cxnSp>
        <p:nvCxnSpPr>
          <p:cNvPr id="114" name="Straight Connector 113"/>
          <p:cNvCxnSpPr/>
          <p:nvPr/>
        </p:nvCxnSpPr>
        <p:spPr>
          <a:xfrm>
            <a:off x="2915816" y="1319290"/>
            <a:ext cx="0" cy="292110"/>
          </a:xfrm>
          <a:prstGeom prst="line">
            <a:avLst/>
          </a:prstGeom>
        </p:spPr>
        <p:style>
          <a:lnRef idx="1">
            <a:schemeClr val="dk1"/>
          </a:lnRef>
          <a:fillRef idx="0">
            <a:schemeClr val="dk1"/>
          </a:fillRef>
          <a:effectRef idx="0">
            <a:schemeClr val="dk1"/>
          </a:effectRef>
          <a:fontRef idx="minor">
            <a:schemeClr val="tx1"/>
          </a:fontRef>
        </p:style>
      </p:cxnSp>
      <p:cxnSp>
        <p:nvCxnSpPr>
          <p:cNvPr id="116" name="Elbow Connector 115"/>
          <p:cNvCxnSpPr/>
          <p:nvPr/>
        </p:nvCxnSpPr>
        <p:spPr>
          <a:xfrm rot="16200000" flipH="1">
            <a:off x="3969154" y="979688"/>
            <a:ext cx="314932" cy="988685"/>
          </a:xfrm>
          <a:prstGeom prst="bentConnector2">
            <a:avLst/>
          </a:prstGeom>
        </p:spPr>
        <p:style>
          <a:lnRef idx="1">
            <a:schemeClr val="dk1"/>
          </a:lnRef>
          <a:fillRef idx="0">
            <a:schemeClr val="dk1"/>
          </a:fillRef>
          <a:effectRef idx="0">
            <a:schemeClr val="dk1"/>
          </a:effectRef>
          <a:fontRef idx="minor">
            <a:schemeClr val="tx1"/>
          </a:fontRef>
        </p:style>
      </p:cxnSp>
      <p:cxnSp>
        <p:nvCxnSpPr>
          <p:cNvPr id="117" name="Elbow Connector 116"/>
          <p:cNvCxnSpPr/>
          <p:nvPr/>
        </p:nvCxnSpPr>
        <p:spPr>
          <a:xfrm rot="16200000" flipH="1">
            <a:off x="5588550" y="1010413"/>
            <a:ext cx="314932" cy="988685"/>
          </a:xfrm>
          <a:prstGeom prst="bentConnector2">
            <a:avLst/>
          </a:prstGeom>
        </p:spPr>
        <p:style>
          <a:lnRef idx="1">
            <a:schemeClr val="dk1"/>
          </a:lnRef>
          <a:fillRef idx="0">
            <a:schemeClr val="dk1"/>
          </a:fillRef>
          <a:effectRef idx="0">
            <a:schemeClr val="dk1"/>
          </a:effectRef>
          <a:fontRef idx="minor">
            <a:schemeClr val="tx1"/>
          </a:fontRef>
        </p:style>
      </p:cxnSp>
      <p:cxnSp>
        <p:nvCxnSpPr>
          <p:cNvPr id="118" name="Elbow Connector 117"/>
          <p:cNvCxnSpPr/>
          <p:nvPr/>
        </p:nvCxnSpPr>
        <p:spPr>
          <a:xfrm rot="16200000" flipH="1">
            <a:off x="7158609" y="988045"/>
            <a:ext cx="314932" cy="988685"/>
          </a:xfrm>
          <a:prstGeom prst="bentConnector2">
            <a:avLst/>
          </a:prstGeom>
        </p:spPr>
        <p:style>
          <a:lnRef idx="1">
            <a:schemeClr val="dk1"/>
          </a:lnRef>
          <a:fillRef idx="0">
            <a:schemeClr val="dk1"/>
          </a:fillRef>
          <a:effectRef idx="0">
            <a:schemeClr val="dk1"/>
          </a:effectRef>
          <a:fontRef idx="minor">
            <a:schemeClr val="tx1"/>
          </a:fontRef>
        </p:style>
      </p:cxnSp>
      <p:cxnSp>
        <p:nvCxnSpPr>
          <p:cNvPr id="119" name="Straight Connector 118"/>
          <p:cNvCxnSpPr/>
          <p:nvPr/>
        </p:nvCxnSpPr>
        <p:spPr>
          <a:xfrm>
            <a:off x="3625981" y="1316564"/>
            <a:ext cx="972108" cy="0"/>
          </a:xfrm>
          <a:prstGeom prst="line">
            <a:avLst/>
          </a:prstGeom>
        </p:spPr>
        <p:style>
          <a:lnRef idx="1">
            <a:schemeClr val="dk1"/>
          </a:lnRef>
          <a:fillRef idx="0">
            <a:schemeClr val="dk1"/>
          </a:fillRef>
          <a:effectRef idx="0">
            <a:schemeClr val="dk1"/>
          </a:effectRef>
          <a:fontRef idx="minor">
            <a:schemeClr val="tx1"/>
          </a:fontRef>
        </p:style>
      </p:cxnSp>
      <p:cxnSp>
        <p:nvCxnSpPr>
          <p:cNvPr id="120" name="Straight Connector 119"/>
          <p:cNvCxnSpPr/>
          <p:nvPr/>
        </p:nvCxnSpPr>
        <p:spPr>
          <a:xfrm>
            <a:off x="5251673" y="1346167"/>
            <a:ext cx="972108" cy="0"/>
          </a:xfrm>
          <a:prstGeom prst="line">
            <a:avLst/>
          </a:prstGeom>
        </p:spPr>
        <p:style>
          <a:lnRef idx="1">
            <a:schemeClr val="dk1"/>
          </a:lnRef>
          <a:fillRef idx="0">
            <a:schemeClr val="dk1"/>
          </a:fillRef>
          <a:effectRef idx="0">
            <a:schemeClr val="dk1"/>
          </a:effectRef>
          <a:fontRef idx="minor">
            <a:schemeClr val="tx1"/>
          </a:fontRef>
        </p:style>
      </p:cxnSp>
      <p:cxnSp>
        <p:nvCxnSpPr>
          <p:cNvPr id="121" name="Straight Connector 120"/>
          <p:cNvCxnSpPr/>
          <p:nvPr/>
        </p:nvCxnSpPr>
        <p:spPr>
          <a:xfrm>
            <a:off x="6830021" y="1329402"/>
            <a:ext cx="972108" cy="0"/>
          </a:xfrm>
          <a:prstGeom prst="line">
            <a:avLst/>
          </a:prstGeom>
        </p:spPr>
        <p:style>
          <a:lnRef idx="1">
            <a:schemeClr val="dk1"/>
          </a:lnRef>
          <a:fillRef idx="0">
            <a:schemeClr val="dk1"/>
          </a:fillRef>
          <a:effectRef idx="0">
            <a:schemeClr val="dk1"/>
          </a:effectRef>
          <a:fontRef idx="minor">
            <a:schemeClr val="tx1"/>
          </a:fontRef>
        </p:style>
      </p:cxnSp>
      <p:cxnSp>
        <p:nvCxnSpPr>
          <p:cNvPr id="122" name="Straight Connector 121"/>
          <p:cNvCxnSpPr/>
          <p:nvPr/>
        </p:nvCxnSpPr>
        <p:spPr>
          <a:xfrm>
            <a:off x="4568190" y="1331215"/>
            <a:ext cx="0" cy="292110"/>
          </a:xfrm>
          <a:prstGeom prst="line">
            <a:avLst/>
          </a:prstGeom>
        </p:spPr>
        <p:style>
          <a:lnRef idx="1">
            <a:schemeClr val="dk1"/>
          </a:lnRef>
          <a:fillRef idx="0">
            <a:schemeClr val="dk1"/>
          </a:fillRef>
          <a:effectRef idx="0">
            <a:schemeClr val="dk1"/>
          </a:effectRef>
          <a:fontRef idx="minor">
            <a:schemeClr val="tx1"/>
          </a:fontRef>
        </p:style>
      </p:cxnSp>
      <p:cxnSp>
        <p:nvCxnSpPr>
          <p:cNvPr id="123" name="Straight Connector 122"/>
          <p:cNvCxnSpPr/>
          <p:nvPr/>
        </p:nvCxnSpPr>
        <p:spPr>
          <a:xfrm>
            <a:off x="6220730" y="1354159"/>
            <a:ext cx="0" cy="292110"/>
          </a:xfrm>
          <a:prstGeom prst="line">
            <a:avLst/>
          </a:prstGeom>
        </p:spPr>
        <p:style>
          <a:lnRef idx="1">
            <a:schemeClr val="dk1"/>
          </a:lnRef>
          <a:fillRef idx="0">
            <a:schemeClr val="dk1"/>
          </a:fillRef>
          <a:effectRef idx="0">
            <a:schemeClr val="dk1"/>
          </a:effectRef>
          <a:fontRef idx="minor">
            <a:schemeClr val="tx1"/>
          </a:fontRef>
        </p:style>
      </p:cxnSp>
      <p:cxnSp>
        <p:nvCxnSpPr>
          <p:cNvPr id="124" name="Straight Connector 123"/>
          <p:cNvCxnSpPr/>
          <p:nvPr/>
        </p:nvCxnSpPr>
        <p:spPr>
          <a:xfrm>
            <a:off x="7794043" y="1339387"/>
            <a:ext cx="0" cy="292110"/>
          </a:xfrm>
          <a:prstGeom prst="line">
            <a:avLst/>
          </a:prstGeom>
        </p:spPr>
        <p:style>
          <a:lnRef idx="1">
            <a:schemeClr val="dk1"/>
          </a:lnRef>
          <a:fillRef idx="0">
            <a:schemeClr val="dk1"/>
          </a:fillRef>
          <a:effectRef idx="0">
            <a:schemeClr val="dk1"/>
          </a:effectRef>
          <a:fontRef idx="minor">
            <a:schemeClr val="tx1"/>
          </a:fontRef>
        </p:style>
      </p:cxnSp>
      <p:sp>
        <p:nvSpPr>
          <p:cNvPr id="125" name="Down Arrow 124"/>
          <p:cNvSpPr/>
          <p:nvPr/>
        </p:nvSpPr>
        <p:spPr>
          <a:xfrm>
            <a:off x="4068245" y="4285726"/>
            <a:ext cx="107711" cy="100440"/>
          </a:xfrm>
          <a:prstGeom prst="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p>
        </p:txBody>
      </p:sp>
      <p:sp>
        <p:nvSpPr>
          <p:cNvPr id="126" name="Down Arrow 125"/>
          <p:cNvSpPr/>
          <p:nvPr/>
        </p:nvSpPr>
        <p:spPr>
          <a:xfrm>
            <a:off x="5704916" y="4246301"/>
            <a:ext cx="107711" cy="100440"/>
          </a:xfrm>
          <a:prstGeom prst="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p>
        </p:txBody>
      </p:sp>
      <p:sp>
        <p:nvSpPr>
          <p:cNvPr id="127" name="Down Arrow 126"/>
          <p:cNvSpPr/>
          <p:nvPr/>
        </p:nvSpPr>
        <p:spPr>
          <a:xfrm>
            <a:off x="7362459" y="4246209"/>
            <a:ext cx="107711" cy="100440"/>
          </a:xfrm>
          <a:prstGeom prst="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p>
        </p:txBody>
      </p:sp>
      <p:sp>
        <p:nvSpPr>
          <p:cNvPr id="128" name="TextBox 127"/>
          <p:cNvSpPr txBox="1"/>
          <p:nvPr/>
        </p:nvSpPr>
        <p:spPr>
          <a:xfrm>
            <a:off x="3275856" y="4515966"/>
            <a:ext cx="3096344" cy="523220"/>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FIG 3: SEQUENCE FLOW DIAGRAM</a:t>
            </a:r>
          </a:p>
          <a:p>
            <a:endParaRPr lang="en-IN" sz="1600" dirty="0"/>
          </a:p>
        </p:txBody>
      </p:sp>
    </p:spTree>
    <p:extLst>
      <p:ext uri="{BB962C8B-B14F-4D97-AF65-F5344CB8AC3E}">
        <p14:creationId xmlns:p14="http://schemas.microsoft.com/office/powerpoint/2010/main" val="4022831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36380" cy="843558"/>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330835" y="168275"/>
            <a:ext cx="8218805" cy="632460"/>
          </a:xfrm>
        </p:spPr>
        <p:txBody>
          <a:bodyPr>
            <a:normAutofit/>
          </a:bodyPr>
          <a:lstStyle/>
          <a:p>
            <a:r>
              <a:rPr lang="en-US" sz="2000" b="1" dirty="0">
                <a:solidFill>
                  <a:schemeClr val="bg1"/>
                </a:solidFill>
                <a:latin typeface="Times New Roman" panose="02020603050405020304" pitchFamily="18" charset="0"/>
                <a:cs typeface="Times New Roman" panose="02020603050405020304" pitchFamily="18" charset="0"/>
              </a:rPr>
              <a:t>SYSTEM DESIGN</a:t>
            </a:r>
          </a:p>
        </p:txBody>
      </p:sp>
      <p:sp>
        <p:nvSpPr>
          <p:cNvPr id="5" name="Slide Number Placeholder 4"/>
          <p:cNvSpPr>
            <a:spLocks noGrp="1"/>
          </p:cNvSpPr>
          <p:nvPr>
            <p:ph type="sldNum" sz="quarter" idx="12"/>
          </p:nvPr>
        </p:nvSpPr>
        <p:spPr/>
        <p:txBody>
          <a:bodyPr/>
          <a:lstStyle/>
          <a:p>
            <a:fld id="{80999B1E-9774-4338-A494-7EE81CDA6832}" type="slidenum">
              <a:rPr lang="en-IN" smtClean="0"/>
              <a:pPr/>
              <a:t>19</a:t>
            </a:fld>
            <a:endParaRPr lang="en-IN" dirty="0"/>
          </a:p>
        </p:txBody>
      </p:sp>
      <p:sp>
        <p:nvSpPr>
          <p:cNvPr id="3" name="Date Placeholder 2"/>
          <p:cNvSpPr>
            <a:spLocks noGrp="1"/>
          </p:cNvSpPr>
          <p:nvPr>
            <p:ph type="dt" sz="half" idx="10"/>
          </p:nvPr>
        </p:nvSpPr>
        <p:spPr/>
        <p:txBody>
          <a:bodyPr/>
          <a:lstStyle/>
          <a:p>
            <a:fld id="{4E37164C-B7EC-4E27-8B3C-7D2F6E0182FC}" type="datetime1">
              <a:rPr lang="en-IN" smtClean="0"/>
              <a:pPr/>
              <a:t>26-12-2024</a:t>
            </a:fld>
            <a:endParaRPr lang="en-IN" dirty="0"/>
          </a:p>
        </p:txBody>
      </p:sp>
      <p:pic>
        <p:nvPicPr>
          <p:cNvPr id="4" name="Picture 3">
            <a:extLst>
              <a:ext uri="{FF2B5EF4-FFF2-40B4-BE49-F238E27FC236}">
                <a16:creationId xmlns:a16="http://schemas.microsoft.com/office/drawing/2014/main" id="{6DDE0E8B-4C57-387D-15CB-78DCF7D0C9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6" name="TextBox 5">
            <a:extLst>
              <a:ext uri="{FF2B5EF4-FFF2-40B4-BE49-F238E27FC236}">
                <a16:creationId xmlns:a16="http://schemas.microsoft.com/office/drawing/2014/main" id="{224D3058-E8B4-ACDF-C542-B959B136D204}"/>
              </a:ext>
            </a:extLst>
          </p:cNvPr>
          <p:cNvSpPr txBox="1"/>
          <p:nvPr/>
        </p:nvSpPr>
        <p:spPr>
          <a:xfrm>
            <a:off x="251520" y="987574"/>
            <a:ext cx="2232248" cy="30777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4. CLASS DIAGRAM</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006" y="1422513"/>
            <a:ext cx="7884368" cy="2733414"/>
          </a:xfrm>
          <a:prstGeom prst="rect">
            <a:avLst/>
          </a:prstGeom>
        </p:spPr>
      </p:pic>
      <p:sp>
        <p:nvSpPr>
          <p:cNvPr id="10" name="TextBox 9">
            <a:extLst>
              <a:ext uri="{FF2B5EF4-FFF2-40B4-BE49-F238E27FC236}">
                <a16:creationId xmlns:a16="http://schemas.microsoft.com/office/drawing/2014/main" id="{224D3058-E8B4-ACDF-C542-B959B136D204}"/>
              </a:ext>
            </a:extLst>
          </p:cNvPr>
          <p:cNvSpPr txBox="1"/>
          <p:nvPr/>
        </p:nvSpPr>
        <p:spPr>
          <a:xfrm>
            <a:off x="3203848" y="4272152"/>
            <a:ext cx="2232248" cy="307777"/>
          </a:xfrm>
          <a:prstGeom prst="rect">
            <a:avLst/>
          </a:prstGeom>
          <a:noFill/>
        </p:spPr>
        <p:txBody>
          <a:bodyPr wrap="square" rtlCol="0">
            <a:spAutoFit/>
          </a:bodyPr>
          <a:lstStyle/>
          <a:p>
            <a:r>
              <a:rPr lang="en-IN" sz="1400" b="1" dirty="0" smtClean="0">
                <a:latin typeface="Times New Roman" panose="02020603050405020304" pitchFamily="18" charset="0"/>
                <a:cs typeface="Times New Roman" panose="02020603050405020304" pitchFamily="18" charset="0"/>
              </a:rPr>
              <a:t>FIG 4: </a:t>
            </a:r>
            <a:r>
              <a:rPr lang="en-IN" sz="1400" dirty="0" smtClean="0">
                <a:latin typeface="Times New Roman" panose="02020603050405020304" pitchFamily="18" charset="0"/>
                <a:cs typeface="Times New Roman" panose="02020603050405020304" pitchFamily="18" charset="0"/>
              </a:rPr>
              <a:t>CLASS</a:t>
            </a:r>
            <a:r>
              <a:rPr lang="en-IN" sz="1400" b="1" dirty="0" smtClean="0">
                <a:latin typeface="Times New Roman" panose="02020603050405020304" pitchFamily="18" charset="0"/>
                <a:cs typeface="Times New Roman" panose="02020603050405020304" pitchFamily="18" charset="0"/>
              </a:rPr>
              <a:t> </a:t>
            </a:r>
            <a:r>
              <a:rPr lang="en-IN" sz="1400" dirty="0" smtClean="0">
                <a:latin typeface="Times New Roman" panose="02020603050405020304" pitchFamily="18" charset="0"/>
                <a:cs typeface="Times New Roman" panose="02020603050405020304" pitchFamily="18" charset="0"/>
              </a:rPr>
              <a:t>DIAGRAM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2131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1396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
            </a:r>
            <a:br>
              <a:rPr lang="en-IN" sz="24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IMPLEMENTATION</a:t>
            </a:r>
            <a:r>
              <a:rPr lang="en-IN" sz="2800" dirty="0">
                <a:solidFill>
                  <a:srgbClr val="002060"/>
                </a:solidFill>
                <a:latin typeface="Cambria" panose="02040503050406030204" pitchFamily="18" charset="0"/>
              </a:rPr>
              <a:t/>
            </a:r>
            <a:br>
              <a:rPr lang="en-IN" sz="2800" dirty="0">
                <a:solidFill>
                  <a:srgbClr val="002060"/>
                </a:solidFill>
                <a:latin typeface="Cambria" panose="02040503050406030204" pitchFamily="18" charset="0"/>
              </a:rPr>
            </a:b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20</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2" name="TextBox 11">
            <a:extLst>
              <a:ext uri="{FF2B5EF4-FFF2-40B4-BE49-F238E27FC236}">
                <a16:creationId xmlns:a16="http://schemas.microsoft.com/office/drawing/2014/main" id="{9FF68147-A61E-4F56-3C13-FFC3D41DA23E}"/>
              </a:ext>
            </a:extLst>
          </p:cNvPr>
          <p:cNvSpPr txBox="1"/>
          <p:nvPr/>
        </p:nvSpPr>
        <p:spPr>
          <a:xfrm>
            <a:off x="4067944" y="4299942"/>
            <a:ext cx="2052228" cy="369332"/>
          </a:xfrm>
          <a:prstGeom prst="rect">
            <a:avLst/>
          </a:prstGeom>
          <a:noFill/>
        </p:spPr>
        <p:txBody>
          <a:bodyPr wrap="square" rtlCol="0">
            <a:spAutoFit/>
          </a:bodyPr>
          <a:lstStyle/>
          <a:p>
            <a:r>
              <a:rPr lang="en-IN" dirty="0" smtClean="0">
                <a:latin typeface="Times" panose="02020603050405020304" pitchFamily="18" charset="0"/>
                <a:cs typeface="Times" panose="02020603050405020304" pitchFamily="18" charset="0"/>
              </a:rPr>
              <a:t>HOME</a:t>
            </a:r>
            <a:r>
              <a:rPr lang="en-IN" dirty="0" smtClean="0">
                <a:latin typeface="Times" panose="02020603050405020304" pitchFamily="18" charset="0"/>
                <a:cs typeface="Times" panose="02020603050405020304" pitchFamily="18" charset="0"/>
              </a:rPr>
              <a:t> PAGE</a:t>
            </a:r>
            <a:endParaRPr lang="en-IN" dirty="0">
              <a:latin typeface="Times" panose="02020603050405020304" pitchFamily="18" charset="0"/>
              <a:cs typeface="Times"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889598"/>
            <a:ext cx="8363272" cy="3135925"/>
          </a:xfrm>
          <a:prstGeom prst="rect">
            <a:avLst/>
          </a:prstGeom>
        </p:spPr>
      </p:pic>
    </p:spTree>
    <p:extLst>
      <p:ext uri="{BB962C8B-B14F-4D97-AF65-F5344CB8AC3E}">
        <p14:creationId xmlns:p14="http://schemas.microsoft.com/office/powerpoint/2010/main" val="1710081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
            </a:r>
            <a:br>
              <a:rPr lang="en-IN" sz="24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IMPLEMENTATION</a:t>
            </a:r>
            <a:r>
              <a:rPr lang="en-IN" sz="2800" dirty="0">
                <a:solidFill>
                  <a:srgbClr val="002060"/>
                </a:solidFill>
                <a:latin typeface="Cambria" panose="02040503050406030204" pitchFamily="18" charset="0"/>
              </a:rPr>
              <a:t/>
            </a:r>
            <a:br>
              <a:rPr lang="en-IN" sz="2800" dirty="0">
                <a:solidFill>
                  <a:srgbClr val="002060"/>
                </a:solidFill>
                <a:latin typeface="Cambria" panose="02040503050406030204" pitchFamily="18" charset="0"/>
              </a:rPr>
            </a:b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21</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3" name="TextBox 12">
            <a:extLst>
              <a:ext uri="{FF2B5EF4-FFF2-40B4-BE49-F238E27FC236}">
                <a16:creationId xmlns:a16="http://schemas.microsoft.com/office/drawing/2014/main" id="{4C1A838D-CFD4-75B6-AF86-A6D394CC9C7C}"/>
              </a:ext>
            </a:extLst>
          </p:cNvPr>
          <p:cNvSpPr txBox="1"/>
          <p:nvPr/>
        </p:nvSpPr>
        <p:spPr>
          <a:xfrm>
            <a:off x="3779912" y="3956175"/>
            <a:ext cx="3096344" cy="369332"/>
          </a:xfrm>
          <a:prstGeom prst="rect">
            <a:avLst/>
          </a:prstGeom>
          <a:noFill/>
        </p:spPr>
        <p:txBody>
          <a:bodyPr wrap="square" rtlCol="0">
            <a:spAutoFit/>
          </a:bodyPr>
          <a:lstStyle/>
          <a:p>
            <a:r>
              <a:rPr lang="en-IN" dirty="0" smtClean="0">
                <a:latin typeface="Times" panose="02020603050405020304" pitchFamily="18" charset="0"/>
                <a:cs typeface="Times" panose="02020603050405020304" pitchFamily="18" charset="0"/>
              </a:rPr>
              <a:t>LOGIN PAGE</a:t>
            </a:r>
            <a:endParaRPr lang="en-IN" dirty="0">
              <a:latin typeface="Times" panose="02020603050405020304" pitchFamily="18" charset="0"/>
              <a:cs typeface="Times"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856" y="989817"/>
            <a:ext cx="7164288" cy="2893933"/>
          </a:xfrm>
          <a:prstGeom prst="rect">
            <a:avLst/>
          </a:prstGeom>
        </p:spPr>
      </p:pic>
    </p:spTree>
    <p:extLst>
      <p:ext uri="{BB962C8B-B14F-4D97-AF65-F5344CB8AC3E}">
        <p14:creationId xmlns:p14="http://schemas.microsoft.com/office/powerpoint/2010/main" val="1779748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
            </a:r>
            <a:br>
              <a:rPr lang="en-IN" sz="24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IMPLEMENTATION</a:t>
            </a:r>
            <a:r>
              <a:rPr lang="en-IN" sz="2800" dirty="0">
                <a:solidFill>
                  <a:srgbClr val="002060"/>
                </a:solidFill>
                <a:latin typeface="Cambria" panose="02040503050406030204" pitchFamily="18" charset="0"/>
              </a:rPr>
              <a:t/>
            </a:r>
            <a:br>
              <a:rPr lang="en-IN" sz="2800" dirty="0">
                <a:solidFill>
                  <a:srgbClr val="002060"/>
                </a:solidFill>
                <a:latin typeface="Cambria" panose="02040503050406030204" pitchFamily="18" charset="0"/>
              </a:rPr>
            </a:b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22</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975377"/>
            <a:ext cx="6912768" cy="3252558"/>
          </a:xfrm>
          <a:prstGeom prst="rect">
            <a:avLst/>
          </a:prstGeom>
        </p:spPr>
      </p:pic>
      <p:sp>
        <p:nvSpPr>
          <p:cNvPr id="8" name="TextBox 7"/>
          <p:cNvSpPr txBox="1"/>
          <p:nvPr/>
        </p:nvSpPr>
        <p:spPr>
          <a:xfrm flipH="1">
            <a:off x="3851920" y="4312933"/>
            <a:ext cx="3626689"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UPLOAD DATASET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5290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
            </a:r>
            <a:br>
              <a:rPr lang="en-IN" sz="24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IMPLEMENTATION</a:t>
            </a:r>
            <a:r>
              <a:rPr lang="en-IN" sz="2800" dirty="0">
                <a:solidFill>
                  <a:srgbClr val="002060"/>
                </a:solidFill>
                <a:latin typeface="Cambria" panose="02040503050406030204" pitchFamily="18" charset="0"/>
              </a:rPr>
              <a:t/>
            </a:r>
            <a:br>
              <a:rPr lang="en-IN" sz="2800" dirty="0">
                <a:solidFill>
                  <a:srgbClr val="002060"/>
                </a:solidFill>
                <a:latin typeface="Cambria" panose="02040503050406030204" pitchFamily="18" charset="0"/>
              </a:rPr>
            </a:b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23</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2" name="TextBox 11">
            <a:extLst>
              <a:ext uri="{FF2B5EF4-FFF2-40B4-BE49-F238E27FC236}">
                <a16:creationId xmlns:a16="http://schemas.microsoft.com/office/drawing/2014/main" id="{9FF68147-A61E-4F56-3C13-FFC3D41DA23E}"/>
              </a:ext>
            </a:extLst>
          </p:cNvPr>
          <p:cNvSpPr txBox="1"/>
          <p:nvPr/>
        </p:nvSpPr>
        <p:spPr>
          <a:xfrm>
            <a:off x="3491880" y="3878301"/>
            <a:ext cx="2448272"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Add U</a:t>
            </a:r>
            <a:r>
              <a:rPr lang="en-IN" dirty="0" smtClean="0">
                <a:latin typeface="Times New Roman" panose="02020603050405020304" pitchFamily="18" charset="0"/>
                <a:cs typeface="Times New Roman" panose="02020603050405020304" pitchFamily="18" charset="0"/>
              </a:rPr>
              <a:t>ser Details</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524" y="1019020"/>
            <a:ext cx="8568952" cy="2798733"/>
          </a:xfrm>
          <a:prstGeom prst="rect">
            <a:avLst/>
          </a:prstGeom>
        </p:spPr>
      </p:pic>
    </p:spTree>
    <p:extLst>
      <p:ext uri="{BB962C8B-B14F-4D97-AF65-F5344CB8AC3E}">
        <p14:creationId xmlns:p14="http://schemas.microsoft.com/office/powerpoint/2010/main" val="3695534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
            </a:r>
            <a:br>
              <a:rPr lang="en-IN" sz="24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IMPLEMENTATION</a:t>
            </a:r>
            <a:r>
              <a:rPr lang="en-IN" sz="2800" dirty="0">
                <a:solidFill>
                  <a:srgbClr val="002060"/>
                </a:solidFill>
                <a:latin typeface="Cambria" panose="02040503050406030204" pitchFamily="18" charset="0"/>
              </a:rPr>
              <a:t/>
            </a:r>
            <a:br>
              <a:rPr lang="en-IN" sz="2800" dirty="0">
                <a:solidFill>
                  <a:srgbClr val="002060"/>
                </a:solidFill>
                <a:latin typeface="Cambria" panose="02040503050406030204" pitchFamily="18" charset="0"/>
              </a:rPr>
            </a:b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24</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2" name="TextBox 11">
            <a:extLst>
              <a:ext uri="{FF2B5EF4-FFF2-40B4-BE49-F238E27FC236}">
                <a16:creationId xmlns:a16="http://schemas.microsoft.com/office/drawing/2014/main" id="{9FF68147-A61E-4F56-3C13-FFC3D41DA23E}"/>
              </a:ext>
            </a:extLst>
          </p:cNvPr>
          <p:cNvSpPr txBox="1"/>
          <p:nvPr/>
        </p:nvSpPr>
        <p:spPr>
          <a:xfrm>
            <a:off x="3150533" y="4155926"/>
            <a:ext cx="267125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VALID TRANSACTION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859" y="865035"/>
            <a:ext cx="8524605" cy="3148969"/>
          </a:xfrm>
          <a:prstGeom prst="rect">
            <a:avLst/>
          </a:prstGeom>
        </p:spPr>
      </p:pic>
    </p:spTree>
    <p:extLst>
      <p:ext uri="{BB962C8B-B14F-4D97-AF65-F5344CB8AC3E}">
        <p14:creationId xmlns:p14="http://schemas.microsoft.com/office/powerpoint/2010/main" val="3715836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SNAP OF RESULTS</a:t>
            </a: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25</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922493"/>
            <a:ext cx="8280920" cy="2585361"/>
          </a:xfrm>
          <a:prstGeom prst="rect">
            <a:avLst/>
          </a:prstGeom>
        </p:spPr>
      </p:pic>
      <p:sp>
        <p:nvSpPr>
          <p:cNvPr id="10" name="TextBox 9">
            <a:extLst>
              <a:ext uri="{FF2B5EF4-FFF2-40B4-BE49-F238E27FC236}">
                <a16:creationId xmlns:a16="http://schemas.microsoft.com/office/drawing/2014/main" id="{9FF68147-A61E-4F56-3C13-FFC3D41DA23E}"/>
              </a:ext>
            </a:extLst>
          </p:cNvPr>
          <p:cNvSpPr txBox="1"/>
          <p:nvPr/>
        </p:nvSpPr>
        <p:spPr>
          <a:xfrm>
            <a:off x="3563888" y="3768227"/>
            <a:ext cx="4536504"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FRAUD REPORTING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399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SNAP OF RESULTS</a:t>
            </a: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26</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979632"/>
            <a:ext cx="3600400" cy="330897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1960" y="989817"/>
            <a:ext cx="4676770" cy="3298785"/>
          </a:xfrm>
          <a:prstGeom prst="rect">
            <a:avLst/>
          </a:prstGeom>
        </p:spPr>
      </p:pic>
    </p:spTree>
    <p:extLst>
      <p:ext uri="{BB962C8B-B14F-4D97-AF65-F5344CB8AC3E}">
        <p14:creationId xmlns:p14="http://schemas.microsoft.com/office/powerpoint/2010/main" val="1767781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MAIN CODES</a:t>
            </a: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27</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9945"/>
            <a:ext cx="4427984" cy="3806916"/>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0104" y="829945"/>
            <a:ext cx="4743895" cy="3806916"/>
          </a:xfrm>
          <a:prstGeom prst="rect">
            <a:avLst/>
          </a:prstGeom>
        </p:spPr>
      </p:pic>
    </p:spTree>
    <p:extLst>
      <p:ext uri="{BB962C8B-B14F-4D97-AF65-F5344CB8AC3E}">
        <p14:creationId xmlns:p14="http://schemas.microsoft.com/office/powerpoint/2010/main" val="2203019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2" name="Title 1"/>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MAIN CODES</a:t>
            </a:r>
            <a:endParaRPr lang="en-IN" sz="280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fld id="{80999B1E-9774-4338-A494-7EE81CDA6832}" type="slidenum">
              <a:rPr lang="en-IN" smtClean="0"/>
              <a:pPr/>
              <a:t>28</a:t>
            </a:fld>
            <a:endParaRPr lang="en-IN" dirty="0"/>
          </a:p>
        </p:txBody>
      </p:sp>
      <p:sp>
        <p:nvSpPr>
          <p:cNvPr id="6" name="Date Placeholder 5"/>
          <p:cNvSpPr>
            <a:spLocks noGrp="1"/>
          </p:cNvSpPr>
          <p:nvPr>
            <p:ph type="dt" sz="half" idx="10"/>
          </p:nvPr>
        </p:nvSpPr>
        <p:spPr/>
        <p:txBody>
          <a:bodyPr/>
          <a:lstStyle/>
          <a:p>
            <a:fld id="{82C55200-5846-4293-BAD4-D7DBD425E6C9}" type="datetime1">
              <a:rPr lang="en-IN" smtClean="0"/>
              <a:pPr/>
              <a:t>26-12-2024</a:t>
            </a:fld>
            <a:endParaRPr lang="en-IN" dirty="0"/>
          </a:p>
        </p:txBody>
      </p:sp>
      <p:pic>
        <p:nvPicPr>
          <p:cNvPr id="4" name="Picture 3">
            <a:extLst>
              <a:ext uri="{FF2B5EF4-FFF2-40B4-BE49-F238E27FC236}">
                <a16:creationId xmlns:a16="http://schemas.microsoft.com/office/drawing/2014/main" id="{0A352BFE-1F0D-F090-9692-D2157244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0" name="Picture 9">
            <a:extLst>
              <a:ext uri="{FF2B5EF4-FFF2-40B4-BE49-F238E27FC236}">
                <a16:creationId xmlns:a16="http://schemas.microsoft.com/office/drawing/2014/main" id="{F557877B-5C06-EC02-EFBE-05A2889CF492}"/>
              </a:ext>
            </a:extLst>
          </p:cNvPr>
          <p:cNvPicPr>
            <a:picLocks noChangeAspect="1"/>
          </p:cNvPicPr>
          <p:nvPr/>
        </p:nvPicPr>
        <p:blipFill>
          <a:blip r:embed="rId3"/>
          <a:stretch>
            <a:fillRect/>
          </a:stretch>
        </p:blipFill>
        <p:spPr>
          <a:xfrm>
            <a:off x="4427983" y="814665"/>
            <a:ext cx="4716017" cy="552450"/>
          </a:xfrm>
          <a:prstGeom prst="rect">
            <a:avLst/>
          </a:prstGeom>
        </p:spPr>
      </p:pic>
      <p:pic>
        <p:nvPicPr>
          <p:cNvPr id="14" name="Picture 13">
            <a:extLst>
              <a:ext uri="{FF2B5EF4-FFF2-40B4-BE49-F238E27FC236}">
                <a16:creationId xmlns:a16="http://schemas.microsoft.com/office/drawing/2014/main" id="{09DAA926-D908-7107-15DF-E0A397216082}"/>
              </a:ext>
            </a:extLst>
          </p:cNvPr>
          <p:cNvPicPr>
            <a:picLocks noChangeAspect="1"/>
          </p:cNvPicPr>
          <p:nvPr/>
        </p:nvPicPr>
        <p:blipFill>
          <a:blip r:embed="rId4"/>
          <a:stretch>
            <a:fillRect/>
          </a:stretch>
        </p:blipFill>
        <p:spPr>
          <a:xfrm>
            <a:off x="4402604" y="1367115"/>
            <a:ext cx="4741396" cy="3399550"/>
          </a:xfrm>
          <a:prstGeom prst="rect">
            <a:avLst/>
          </a:prstGeom>
        </p:spPr>
      </p:pic>
      <p:pic>
        <p:nvPicPr>
          <p:cNvPr id="18" name="Picture 17">
            <a:extLst>
              <a:ext uri="{FF2B5EF4-FFF2-40B4-BE49-F238E27FC236}">
                <a16:creationId xmlns:a16="http://schemas.microsoft.com/office/drawing/2014/main" id="{71F3CAF1-F9D1-B740-68CF-8F0ED7EFA3D5}"/>
              </a:ext>
            </a:extLst>
          </p:cNvPr>
          <p:cNvPicPr>
            <a:picLocks noChangeAspect="1"/>
          </p:cNvPicPr>
          <p:nvPr/>
        </p:nvPicPr>
        <p:blipFill>
          <a:blip r:embed="rId5"/>
          <a:stretch>
            <a:fillRect/>
          </a:stretch>
        </p:blipFill>
        <p:spPr>
          <a:xfrm>
            <a:off x="-5990" y="810730"/>
            <a:ext cx="4433973" cy="3955935"/>
          </a:xfrm>
          <a:prstGeom prst="rect">
            <a:avLst/>
          </a:prstGeom>
        </p:spPr>
      </p:pic>
    </p:spTree>
    <p:extLst>
      <p:ext uri="{BB962C8B-B14F-4D97-AF65-F5344CB8AC3E}">
        <p14:creationId xmlns:p14="http://schemas.microsoft.com/office/powerpoint/2010/main" val="2110999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6">
            <a:extLst>
              <a:ext uri="{FF2B5EF4-FFF2-40B4-BE49-F238E27FC236}">
                <a16:creationId xmlns:a16="http://schemas.microsoft.com/office/drawing/2014/main" id="{FABEA0C7-AEF2-EEEC-BB5E-85AFEB09EC0A}"/>
              </a:ext>
            </a:extLst>
          </p:cNvPr>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16" name="Title 1">
            <a:extLst>
              <a:ext uri="{FF2B5EF4-FFF2-40B4-BE49-F238E27FC236}">
                <a16:creationId xmlns:a16="http://schemas.microsoft.com/office/drawing/2014/main" id="{4A6F3E28-A76D-88BD-1BB2-775412485CB0}"/>
              </a:ext>
            </a:extLst>
          </p:cNvPr>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CONCLUSION</a:t>
            </a:r>
            <a:endParaRPr lang="en-IN" sz="2800" dirty="0">
              <a:solidFill>
                <a:srgbClr val="002060"/>
              </a:solidFill>
              <a:latin typeface="Cambria" panose="02040503050406030204" pitchFamily="18" charset="0"/>
            </a:endParaRPr>
          </a:p>
        </p:txBody>
      </p:sp>
      <p:sp>
        <p:nvSpPr>
          <p:cNvPr id="18" name="Slide Number Placeholder 4">
            <a:extLst>
              <a:ext uri="{FF2B5EF4-FFF2-40B4-BE49-F238E27FC236}">
                <a16:creationId xmlns:a16="http://schemas.microsoft.com/office/drawing/2014/main" id="{98FB5A3D-6F15-00C2-190B-7342C6608362}"/>
              </a:ext>
            </a:extLst>
          </p:cNvPr>
          <p:cNvSpPr>
            <a:spLocks noGrp="1"/>
          </p:cNvSpPr>
          <p:nvPr>
            <p:ph type="sldNum" sz="quarter" idx="12"/>
          </p:nvPr>
        </p:nvSpPr>
        <p:spPr>
          <a:xfrm>
            <a:off x="6553200" y="4767264"/>
            <a:ext cx="2133600" cy="273844"/>
          </a:xfrm>
        </p:spPr>
        <p:txBody>
          <a:bodyPr/>
          <a:lstStyle/>
          <a:p>
            <a:fld id="{80999B1E-9774-4338-A494-7EE81CDA6832}" type="slidenum">
              <a:rPr lang="en-IN" smtClean="0"/>
              <a:pPr/>
              <a:t>29</a:t>
            </a:fld>
            <a:endParaRPr lang="en-IN" dirty="0"/>
          </a:p>
        </p:txBody>
      </p:sp>
      <p:sp>
        <p:nvSpPr>
          <p:cNvPr id="19" name="Date Placeholder 5">
            <a:extLst>
              <a:ext uri="{FF2B5EF4-FFF2-40B4-BE49-F238E27FC236}">
                <a16:creationId xmlns:a16="http://schemas.microsoft.com/office/drawing/2014/main" id="{65293888-9E4E-E0D0-71C0-1859E40C6A3B}"/>
              </a:ext>
            </a:extLst>
          </p:cNvPr>
          <p:cNvSpPr>
            <a:spLocks noGrp="1"/>
          </p:cNvSpPr>
          <p:nvPr>
            <p:ph type="dt" sz="half" idx="10"/>
          </p:nvPr>
        </p:nvSpPr>
        <p:spPr>
          <a:xfrm>
            <a:off x="457200" y="4767264"/>
            <a:ext cx="2133600" cy="273844"/>
          </a:xfrm>
        </p:spPr>
        <p:txBody>
          <a:bodyPr/>
          <a:lstStyle/>
          <a:p>
            <a:fld id="{82C55200-5846-4293-BAD4-D7DBD425E6C9}" type="datetime1">
              <a:rPr lang="en-IN" smtClean="0"/>
              <a:pPr/>
              <a:t>26-12-2024</a:t>
            </a:fld>
            <a:endParaRPr lang="en-IN" dirty="0"/>
          </a:p>
        </p:txBody>
      </p:sp>
      <p:pic>
        <p:nvPicPr>
          <p:cNvPr id="20" name="Picture 19">
            <a:extLst>
              <a:ext uri="{FF2B5EF4-FFF2-40B4-BE49-F238E27FC236}">
                <a16:creationId xmlns:a16="http://schemas.microsoft.com/office/drawing/2014/main" id="{D3B79D2A-DD80-9635-745D-2A8090DBF6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 name="Content Placeholder 1"/>
          <p:cNvSpPr>
            <a:spLocks noGrp="1" noChangeArrowheads="1"/>
          </p:cNvSpPr>
          <p:nvPr>
            <p:ph idx="1"/>
          </p:nvPr>
        </p:nvSpPr>
        <p:spPr bwMode="auto">
          <a:xfrm>
            <a:off x="426309" y="1096457"/>
            <a:ext cx="741682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project demonstrates the feasibility and effectiveness of using machine learning techniques to detect fraud in UPI transactions. By analyzing transaction data and user behavior in real time, the proposed system can accurately identify fraudulent activities and prevent financial losses. The combination of supervised and unsupervised learning models ensures that the system can detect known fraud patterns while adapting to new, emerging threats. The real-time nature of the system allows for immediate action to be taken, significantly improving security for UPI users.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the future, the system can be expanded by incorporating additional features such as social network analysis, transaction semantics, and fraud pattern recognition to further enhance its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3701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6">
            <a:extLst>
              <a:ext uri="{FF2B5EF4-FFF2-40B4-BE49-F238E27FC236}">
                <a16:creationId xmlns:a16="http://schemas.microsoft.com/office/drawing/2014/main" id="{FABEA0C7-AEF2-EEEC-BB5E-85AFEB09EC0A}"/>
              </a:ext>
            </a:extLst>
          </p:cNvPr>
          <p:cNvSpPr txBox="1"/>
          <p:nvPr/>
        </p:nvSpPr>
        <p:spPr>
          <a:xfrm>
            <a:off x="0" y="0"/>
            <a:ext cx="914400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p>
        </p:txBody>
      </p:sp>
      <p:sp>
        <p:nvSpPr>
          <p:cNvPr id="16" name="Title 1">
            <a:extLst>
              <a:ext uri="{FF2B5EF4-FFF2-40B4-BE49-F238E27FC236}">
                <a16:creationId xmlns:a16="http://schemas.microsoft.com/office/drawing/2014/main" id="{4A6F3E28-A76D-88BD-1BB2-775412485CB0}"/>
              </a:ext>
            </a:extLst>
          </p:cNvPr>
          <p:cNvSpPr>
            <a:spLocks noGrp="1"/>
          </p:cNvSpPr>
          <p:nvPr>
            <p:ph type="title"/>
          </p:nvPr>
        </p:nvSpPr>
        <p:spPr>
          <a:xfrm>
            <a:off x="457200" y="205979"/>
            <a:ext cx="8229600" cy="493563"/>
          </a:xfrm>
        </p:spPr>
        <p:txBody>
          <a:bodyPr>
            <a:noAutofit/>
          </a:bodyPr>
          <a:lstStyle/>
          <a:p>
            <a:r>
              <a:rPr lang="en-IN" sz="2400" b="1" dirty="0">
                <a:solidFill>
                  <a:schemeClr val="bg1"/>
                </a:solidFill>
                <a:latin typeface="Times New Roman" panose="02020603050405020304" pitchFamily="18" charset="0"/>
                <a:cs typeface="Times New Roman" panose="02020603050405020304" pitchFamily="18" charset="0"/>
              </a:rPr>
              <a:t/>
            </a:r>
            <a:br>
              <a:rPr lang="en-IN" sz="2400" b="1" dirty="0">
                <a:solidFill>
                  <a:schemeClr val="bg1"/>
                </a:solidFill>
                <a:latin typeface="Times New Roman" panose="02020603050405020304" pitchFamily="18" charset="0"/>
                <a:cs typeface="Times New Roman" panose="02020603050405020304" pitchFamily="18" charset="0"/>
              </a:rPr>
            </a:br>
            <a:r>
              <a:rPr lang="en-IN" sz="2000" b="1" dirty="0">
                <a:solidFill>
                  <a:schemeClr val="bg1"/>
                </a:solidFill>
                <a:latin typeface="Times New Roman" panose="02020603050405020304" pitchFamily="18" charset="0"/>
                <a:cs typeface="Times New Roman" panose="02020603050405020304" pitchFamily="18" charset="0"/>
              </a:rPr>
              <a:t>REFERENCES</a:t>
            </a:r>
            <a:r>
              <a:rPr lang="en-IN" sz="2800" dirty="0">
                <a:solidFill>
                  <a:srgbClr val="002060"/>
                </a:solidFill>
                <a:latin typeface="Cambria" panose="02040503050406030204" pitchFamily="18" charset="0"/>
              </a:rPr>
              <a:t/>
            </a:r>
            <a:br>
              <a:rPr lang="en-IN" sz="2800" dirty="0">
                <a:solidFill>
                  <a:srgbClr val="002060"/>
                </a:solidFill>
                <a:latin typeface="Cambria" panose="02040503050406030204" pitchFamily="18" charset="0"/>
              </a:rPr>
            </a:br>
            <a:endParaRPr lang="en-IN" sz="2800" dirty="0">
              <a:solidFill>
                <a:srgbClr val="002060"/>
              </a:solidFill>
              <a:latin typeface="Cambria" panose="02040503050406030204" pitchFamily="18" charset="0"/>
            </a:endParaRPr>
          </a:p>
        </p:txBody>
      </p:sp>
      <p:sp>
        <p:nvSpPr>
          <p:cNvPr id="17" name="Content Placeholder 2">
            <a:extLst>
              <a:ext uri="{FF2B5EF4-FFF2-40B4-BE49-F238E27FC236}">
                <a16:creationId xmlns:a16="http://schemas.microsoft.com/office/drawing/2014/main" id="{37FBE82F-E9C2-DE29-6BEE-2C8E2099AA7E}"/>
              </a:ext>
            </a:extLst>
          </p:cNvPr>
          <p:cNvSpPr>
            <a:spLocks noGrp="1"/>
          </p:cNvSpPr>
          <p:nvPr>
            <p:ph idx="1"/>
          </p:nvPr>
        </p:nvSpPr>
        <p:spPr>
          <a:xfrm>
            <a:off x="179512" y="1885821"/>
            <a:ext cx="8784976" cy="1728192"/>
          </a:xfrm>
          <a:noFill/>
          <a:ln>
            <a:noFill/>
          </a:ln>
        </p:spPr>
        <p:style>
          <a:lnRef idx="0">
            <a:scrgbClr r="0" g="0" b="0"/>
          </a:lnRef>
          <a:fillRef idx="0">
            <a:scrgbClr r="0" g="0" b="0"/>
          </a:fillRef>
          <a:effectRef idx="0">
            <a:scrgbClr r="0" g="0" b="0"/>
          </a:effectRef>
          <a:fontRef idx="minor">
            <a:schemeClr val="dk1"/>
          </a:fontRef>
        </p:style>
        <p:txBody>
          <a:bodyPr>
            <a:noAutofit/>
          </a:bodyPr>
          <a:lstStyle/>
          <a:p>
            <a:pPr marL="342900" lvl="0" indent="-342900" algn="just">
              <a:lnSpc>
                <a:spcPct val="107000"/>
              </a:lnSpc>
              <a:buFont typeface="+mj-lt"/>
              <a:buAutoNum type="arabicPeriod"/>
            </a:pPr>
            <a:r>
              <a:rPr lang="en-US"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UPI Based Mobile Banking Applications – Security Analysis and Enhancements. </a:t>
            </a:r>
            <a:r>
              <a:rPr lang="en-US" sz="1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a:t>
            </a: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Amity University, Noida (India) </a:t>
            </a:r>
            <a:r>
              <a:rPr lang="en-US"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US"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Secure and Privacy Preserving Digital Payment. {Centre for Development of Advanced Computing Bangalore, India}</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Slide Number Placeholder 4">
            <a:extLst>
              <a:ext uri="{FF2B5EF4-FFF2-40B4-BE49-F238E27FC236}">
                <a16:creationId xmlns:a16="http://schemas.microsoft.com/office/drawing/2014/main" id="{98FB5A3D-6F15-00C2-190B-7342C6608362}"/>
              </a:ext>
            </a:extLst>
          </p:cNvPr>
          <p:cNvSpPr>
            <a:spLocks noGrp="1"/>
          </p:cNvSpPr>
          <p:nvPr>
            <p:ph type="sldNum" sz="quarter" idx="12"/>
          </p:nvPr>
        </p:nvSpPr>
        <p:spPr>
          <a:xfrm>
            <a:off x="6553200" y="4767264"/>
            <a:ext cx="2133600" cy="273844"/>
          </a:xfrm>
        </p:spPr>
        <p:txBody>
          <a:bodyPr/>
          <a:lstStyle/>
          <a:p>
            <a:fld id="{80999B1E-9774-4338-A494-7EE81CDA6832}" type="slidenum">
              <a:rPr lang="en-IN" smtClean="0"/>
              <a:pPr/>
              <a:t>30</a:t>
            </a:fld>
            <a:endParaRPr lang="en-IN" dirty="0"/>
          </a:p>
        </p:txBody>
      </p:sp>
      <p:sp>
        <p:nvSpPr>
          <p:cNvPr id="19" name="Date Placeholder 5">
            <a:extLst>
              <a:ext uri="{FF2B5EF4-FFF2-40B4-BE49-F238E27FC236}">
                <a16:creationId xmlns:a16="http://schemas.microsoft.com/office/drawing/2014/main" id="{65293888-9E4E-E0D0-71C0-1859E40C6A3B}"/>
              </a:ext>
            </a:extLst>
          </p:cNvPr>
          <p:cNvSpPr>
            <a:spLocks noGrp="1"/>
          </p:cNvSpPr>
          <p:nvPr>
            <p:ph type="dt" sz="half" idx="10"/>
          </p:nvPr>
        </p:nvSpPr>
        <p:spPr>
          <a:xfrm>
            <a:off x="457200" y="4767264"/>
            <a:ext cx="2133600" cy="273844"/>
          </a:xfrm>
        </p:spPr>
        <p:txBody>
          <a:bodyPr/>
          <a:lstStyle/>
          <a:p>
            <a:fld id="{82C55200-5846-4293-BAD4-D7DBD425E6C9}" type="datetime1">
              <a:rPr lang="en-IN" smtClean="0"/>
              <a:pPr/>
              <a:t>26-12-2024</a:t>
            </a:fld>
            <a:endParaRPr lang="en-IN" dirty="0"/>
          </a:p>
        </p:txBody>
      </p:sp>
      <p:pic>
        <p:nvPicPr>
          <p:cNvPr id="20" name="Picture 19">
            <a:extLst>
              <a:ext uri="{FF2B5EF4-FFF2-40B4-BE49-F238E27FC236}">
                <a16:creationId xmlns:a16="http://schemas.microsoft.com/office/drawing/2014/main" id="{D3B79D2A-DD80-9635-745D-2A8090DBF6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65440" y="46107"/>
            <a:ext cx="723290" cy="72329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722052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6" descr="question marks png PNG image with transparent background | TOPpng"/>
          <p:cNvSpPr>
            <a:spLocks noChangeAspect="1" noChangeArrowheads="1"/>
          </p:cNvSpPr>
          <p:nvPr/>
        </p:nvSpPr>
        <p:spPr bwMode="auto">
          <a:xfrm>
            <a:off x="116681" y="-108347"/>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IN" dirty="0"/>
          </a:p>
        </p:txBody>
      </p:sp>
      <p:sp>
        <p:nvSpPr>
          <p:cNvPr id="3" name="AutoShape 8" descr="question marks png PNG image with transparent background | TOPpng"/>
          <p:cNvSpPr>
            <a:spLocks noChangeAspect="1" noChangeArrowheads="1"/>
          </p:cNvSpPr>
          <p:nvPr/>
        </p:nvSpPr>
        <p:spPr bwMode="auto">
          <a:xfrm>
            <a:off x="230981" y="59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IN" dirty="0"/>
          </a:p>
        </p:txBody>
      </p:sp>
      <p:sp>
        <p:nvSpPr>
          <p:cNvPr id="5" name="Slide Number Placeholder 4"/>
          <p:cNvSpPr>
            <a:spLocks noGrp="1"/>
          </p:cNvSpPr>
          <p:nvPr>
            <p:ph type="sldNum" sz="quarter" idx="12"/>
          </p:nvPr>
        </p:nvSpPr>
        <p:spPr/>
        <p:txBody>
          <a:bodyPr/>
          <a:lstStyle/>
          <a:p>
            <a:fld id="{80999B1E-9774-4338-A494-7EE81CDA6832}" type="slidenum">
              <a:rPr lang="en-IN" smtClean="0"/>
              <a:pPr/>
              <a:t>31</a:t>
            </a:fld>
            <a:endParaRPr lang="en-IN" dirty="0"/>
          </a:p>
        </p:txBody>
      </p:sp>
      <p:sp>
        <p:nvSpPr>
          <p:cNvPr id="6" name="TextBox 5">
            <a:extLst>
              <a:ext uri="{FF2B5EF4-FFF2-40B4-BE49-F238E27FC236}">
                <a16:creationId xmlns:a16="http://schemas.microsoft.com/office/drawing/2014/main" id="{D1A56A5F-C800-2702-2848-97BF681D9E9E}"/>
              </a:ext>
            </a:extLst>
          </p:cNvPr>
          <p:cNvSpPr txBox="1"/>
          <p:nvPr/>
        </p:nvSpPr>
        <p:spPr>
          <a:xfrm>
            <a:off x="184455" y="1996529"/>
            <a:ext cx="3744416" cy="138499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just"/>
            <a:r>
              <a:rPr lang="en-US" sz="2100" dirty="0">
                <a:solidFill>
                  <a:schemeClr val="bg1"/>
                </a:solidFill>
                <a:latin typeface="Times New Roman" panose="02020603050405020304" pitchFamily="18" charset="0"/>
                <a:cs typeface="Times New Roman" panose="02020603050405020304" pitchFamily="18" charset="0"/>
              </a:rPr>
              <a:t>Thank you for joining. Stay vigilant and informed to protect yourself and your business from these risks.</a:t>
            </a:r>
          </a:p>
        </p:txBody>
      </p:sp>
      <p:sp>
        <p:nvSpPr>
          <p:cNvPr id="8" name="AutoShape 6" descr="Cyber Security Images - Free Download on Freepik">
            <a:extLst>
              <a:ext uri="{FF2B5EF4-FFF2-40B4-BE49-F238E27FC236}">
                <a16:creationId xmlns:a16="http://schemas.microsoft.com/office/drawing/2014/main" id="{B547E454-2010-DD1F-52AB-E8DBCFF7282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descr="Cyber Security Images - Free Download on Freepik">
            <a:extLst>
              <a:ext uri="{FF2B5EF4-FFF2-40B4-BE49-F238E27FC236}">
                <a16:creationId xmlns:a16="http://schemas.microsoft.com/office/drawing/2014/main" id="{B44F997B-BE8B-D6EE-D42D-4B89A2E19C0D}"/>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descr="Light bulb glowing">
            <a:extLst>
              <a:ext uri="{FF2B5EF4-FFF2-40B4-BE49-F238E27FC236}">
                <a16:creationId xmlns:a16="http://schemas.microsoft.com/office/drawing/2014/main" id="{7BA534FE-22A1-2FE1-79EA-D17B68F881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TextBox 11">
            <a:extLst>
              <a:ext uri="{FF2B5EF4-FFF2-40B4-BE49-F238E27FC236}">
                <a16:creationId xmlns:a16="http://schemas.microsoft.com/office/drawing/2014/main" id="{3BB207D4-8381-883E-B32C-5F0A2BC5FABE}"/>
              </a:ext>
            </a:extLst>
          </p:cNvPr>
          <p:cNvSpPr txBox="1"/>
          <p:nvPr/>
        </p:nvSpPr>
        <p:spPr>
          <a:xfrm>
            <a:off x="1763688" y="1419622"/>
            <a:ext cx="3384376" cy="707886"/>
          </a:xfrm>
          <a:prstGeom prst="rect">
            <a:avLst/>
          </a:prstGeom>
          <a:noFill/>
        </p:spPr>
        <p:txBody>
          <a:bodyPr wrap="square" rtlCol="0">
            <a:spAutoFit/>
          </a:bodyPr>
          <a:lstStyle/>
          <a:p>
            <a:r>
              <a:rPr lang="en-IN" sz="4000" b="1" dirty="0">
                <a:ln>
                  <a:solidFill>
                    <a:schemeClr val="bg1">
                      <a:lumMod val="95000"/>
                    </a:schemeClr>
                  </a:solidFill>
                </a:ln>
                <a:solidFill>
                  <a:srgbClr val="43CEFF"/>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2446</TotalTime>
  <Words>1785</Words>
  <Application>Microsoft Office PowerPoint</Application>
  <PresentationFormat>On-screen Show (16:9)</PresentationFormat>
  <Paragraphs>301</Paragraphs>
  <Slides>31</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American Text</vt:lpstr>
      <vt:lpstr>AmericanText BT</vt:lpstr>
      <vt:lpstr>Arial</vt:lpstr>
      <vt:lpstr>Calibri</vt:lpstr>
      <vt:lpstr>Cambria</vt:lpstr>
      <vt:lpstr>Söhne</vt:lpstr>
      <vt:lpstr>Times</vt:lpstr>
      <vt:lpstr>Times New Roman</vt:lpstr>
      <vt:lpstr>Wingdings</vt:lpstr>
      <vt:lpstr>Office Theme</vt:lpstr>
      <vt:lpstr>PowerPoint Presentation</vt:lpstr>
      <vt:lpstr>AGENDA</vt:lpstr>
      <vt:lpstr>AIM OF THE PROJECT</vt:lpstr>
      <vt:lpstr>OBJECTIVE OF THE PROJECT</vt:lpstr>
      <vt:lpstr>PowerPoint Presentation</vt:lpstr>
      <vt:lpstr>ABSTRACT</vt:lpstr>
      <vt:lpstr>INTRODUCTION</vt:lpstr>
      <vt:lpstr>PowerPoint Presentation</vt:lpstr>
      <vt:lpstr>Literature survey</vt:lpstr>
      <vt:lpstr>EXISTING SYSTEM</vt:lpstr>
      <vt:lpstr>EXISTING SYSTEM</vt:lpstr>
      <vt:lpstr>PROPOSED SYSTEM</vt:lpstr>
      <vt:lpstr>PROPOSED SYSTEM</vt:lpstr>
      <vt:lpstr>PowerPoint Presentation</vt:lpstr>
      <vt:lpstr>PowerPoint Presentation</vt:lpstr>
      <vt:lpstr>SYSTEM DESIGN</vt:lpstr>
      <vt:lpstr>SYSTEM DESIGN</vt:lpstr>
      <vt:lpstr>SYSTEM DESIGN</vt:lpstr>
      <vt:lpstr>SYSTEM DESIGN</vt:lpstr>
      <vt:lpstr> IMPLEMENTATION </vt:lpstr>
      <vt:lpstr> IMPLEMENTATION </vt:lpstr>
      <vt:lpstr> IMPLEMENTATION </vt:lpstr>
      <vt:lpstr> IMPLEMENTATION </vt:lpstr>
      <vt:lpstr> IMPLEMENTATION </vt:lpstr>
      <vt:lpstr>SNAP OF RESULTS</vt:lpstr>
      <vt:lpstr>SNAP OF RESULTS</vt:lpstr>
      <vt:lpstr>MAIN CODES</vt:lpstr>
      <vt:lpstr>MAIN CODES</vt:lpstr>
      <vt:lpstr>CONCLUSION</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PHASE 2</dc:title>
  <dc:creator>ZETACODING</dc:creator>
  <cp:lastModifiedBy>hp</cp:lastModifiedBy>
  <cp:revision>347</cp:revision>
  <dcterms:created xsi:type="dcterms:W3CDTF">2022-05-17T10:47:00Z</dcterms:created>
  <dcterms:modified xsi:type="dcterms:W3CDTF">2024-12-26T08:00:52Z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3C3D25C2B3544D7DA4C5060B5A1EA811</vt:lpwstr>
  </property>
  <property fmtid="{D5CDD505-2E9C-101B-9397-08002B2CF9AE}" pid="3" name="KSOProductBuildVer">
    <vt:lpwstr>1033-11.2.0.11191</vt:lpwstr>
  </property>
</Properties>
</file>